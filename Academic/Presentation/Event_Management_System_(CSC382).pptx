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571500"/>
            <a:ext cx="8001000" cy="548618"/>
          </a:xfrm>
          <a:prstGeom prst="rect">
            <a:avLst/>
          </a:prstGeom>
          <a:noFill/>
          <a:ln/>
        </p:spPr>
        <p:txBody>
          <a:bodyPr wrap="none" lIns="0" tIns="0" rIns="0" bIns="0" rtlCol="0" anchor="t">
            <a:spAutoFit/>
          </a:bodyPr>
          <a:lstStyle/>
          <a:p>
            <a:pPr algn="l" indent="0" marL="0">
              <a:lnSpc>
                <a:spcPts val="4300"/>
              </a:lnSpc>
              <a:buNone/>
            </a:pPr>
            <a:r>
              <a:rPr lang="en-US" sz="3294" b="1" dirty="0">
                <a:solidFill>
                  <a:srgbClr val="1A1A1A"/>
                </a:solidFill>
              </a:rPr>
              <a:t>Event Management System</a:t>
            </a:r>
            <a:endParaRPr lang="en-US" sz="3294" dirty="0"/>
          </a:p>
        </p:txBody>
      </p:sp>
      <p:sp>
        <p:nvSpPr>
          <p:cNvPr id="4" name="Text 1"/>
          <p:cNvSpPr/>
          <p:nvPr/>
        </p:nvSpPr>
        <p:spPr>
          <a:xfrm>
            <a:off x="571500" y="1262993"/>
            <a:ext cx="8001000" cy="312539"/>
          </a:xfrm>
          <a:prstGeom prst="rect">
            <a:avLst/>
          </a:prstGeom>
          <a:noFill/>
          <a:ln/>
        </p:spPr>
        <p:txBody>
          <a:bodyPr wrap="none" lIns="0" tIns="0" rIns="0" bIns="0" rtlCol="0" anchor="t">
            <a:spAutoFit/>
          </a:bodyPr>
          <a:lstStyle/>
          <a:p>
            <a:pPr algn="l" indent="0" marL="0">
              <a:lnSpc>
                <a:spcPts val="2200"/>
              </a:lnSpc>
              <a:buNone/>
            </a:pPr>
            <a:r>
              <a:rPr lang="en-US" sz="1602" b="1" dirty="0">
                <a:solidFill>
                  <a:srgbClr val="0052CC"/>
                </a:solidFill>
              </a:rPr>
              <a:t>CSC382</a:t>
            </a:r>
            <a:endParaRPr lang="en-US" sz="1602" dirty="0"/>
          </a:p>
        </p:txBody>
      </p:sp>
      <p:sp>
        <p:nvSpPr>
          <p:cNvPr id="5" name="Shape 2"/>
          <p:cNvSpPr/>
          <p:nvPr/>
        </p:nvSpPr>
        <p:spPr>
          <a:xfrm>
            <a:off x="571500" y="2093956"/>
            <a:ext cx="8001000" cy="716831"/>
          </a:xfrm>
          <a:prstGeom prst="rect">
            <a:avLst/>
          </a:prstGeom>
          <a:solidFill>
            <a:srgbClr val="000000">
              <a:alpha val="0"/>
            </a:srgbClr>
          </a:solidFill>
          <a:ln/>
        </p:spPr>
      </p:sp>
      <p:sp>
        <p:nvSpPr>
          <p:cNvPr id="6" name="Shape 3"/>
          <p:cNvSpPr/>
          <p:nvPr/>
        </p:nvSpPr>
        <p:spPr>
          <a:xfrm>
            <a:off x="571500" y="2093956"/>
            <a:ext cx="28575" cy="716831"/>
          </a:xfrm>
          <a:prstGeom prst="rect">
            <a:avLst/>
          </a:prstGeom>
          <a:solidFill>
            <a:srgbClr val="0052CC"/>
          </a:solidFill>
          <a:ln/>
        </p:spPr>
      </p:sp>
      <p:sp>
        <p:nvSpPr>
          <p:cNvPr id="7" name="Text 4"/>
          <p:cNvSpPr/>
          <p:nvPr/>
        </p:nvSpPr>
        <p:spPr>
          <a:xfrm>
            <a:off x="714375" y="2093956"/>
            <a:ext cx="785812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1A1A1A"/>
                </a:solidFill>
              </a:rPr>
              <a:t>Fahad Bin Sultan University</a:t>
            </a:r>
            <a:endParaRPr lang="en-US" sz="1193" dirty="0"/>
          </a:p>
        </p:txBody>
      </p:sp>
      <p:sp>
        <p:nvSpPr>
          <p:cNvPr id="8" name="Text 5"/>
          <p:cNvSpPr/>
          <p:nvPr/>
        </p:nvSpPr>
        <p:spPr>
          <a:xfrm>
            <a:off x="714375" y="2399351"/>
            <a:ext cx="7858125" cy="411435"/>
          </a:xfrm>
          <a:prstGeom prst="rect">
            <a:avLst/>
          </a:prstGeom>
          <a:noFill/>
          <a:ln/>
        </p:spPr>
        <p:txBody>
          <a:bodyPr wrap="square" lIns="0" tIns="0" rIns="0" bIns="0" rtlCol="0" anchor="t">
            <a:spAutoFit/>
          </a:bodyPr>
          <a:lstStyle/>
          <a:p>
            <a:pPr algn="l" indent="0" marL="0">
              <a:lnSpc>
                <a:spcPts val="1600"/>
              </a:lnSpc>
              <a:buNone/>
            </a:pPr>
            <a:r>
              <a:rPr lang="en-US" sz="942" dirty="0">
                <a:solidFill>
                  <a:srgbClr val="333333"/>
                </a:solidFill>
              </a:rPr>
              <a:t>College of Computing</a:t>
            </a:r>
            <a:pPr algn="l" indent="0" marL="0">
              <a:lnSpc>
                <a:spcPts val="1600"/>
              </a:lnSpc>
              <a:buNone/>
            </a:pPr>
            <a:r>
              <a:rPr lang="en-US" sz="942" dirty="0">
                <a:solidFill>
                  <a:srgbClr val="333333"/>
                </a:solidFill>
              </a:rPr>
              <a:t>
</a:t>
            </a:r>
            <a:pPr algn="l" indent="0" marL="0">
              <a:lnSpc>
                <a:spcPts val="1600"/>
              </a:lnSpc>
              <a:buNone/>
            </a:pPr>
            <a:r>
              <a:rPr lang="en-US" sz="942" dirty="0">
                <a:solidFill>
                  <a:srgbClr val="333333"/>
                </a:solidFill>
              </a:rPr>
              <a:t>Computer Science Department</a:t>
            </a:r>
            <a:endParaRPr lang="en-US" sz="942" dirty="0"/>
          </a:p>
        </p:txBody>
      </p:sp>
      <p:sp>
        <p:nvSpPr>
          <p:cNvPr id="9" name="Shape 6"/>
          <p:cNvSpPr/>
          <p:nvPr/>
        </p:nvSpPr>
        <p:spPr>
          <a:xfrm>
            <a:off x="571500" y="3043461"/>
            <a:ext cx="8001000" cy="407194"/>
          </a:xfrm>
          <a:prstGeom prst="rect">
            <a:avLst/>
          </a:prstGeom>
          <a:solidFill>
            <a:srgbClr val="000000">
              <a:alpha val="0"/>
            </a:srgbClr>
          </a:solidFill>
          <a:ln/>
        </p:spPr>
      </p:sp>
      <p:sp>
        <p:nvSpPr>
          <p:cNvPr id="10" name="Shape 7"/>
          <p:cNvSpPr/>
          <p:nvPr/>
        </p:nvSpPr>
        <p:spPr>
          <a:xfrm>
            <a:off x="571500" y="3043461"/>
            <a:ext cx="28575" cy="407194"/>
          </a:xfrm>
          <a:prstGeom prst="rect">
            <a:avLst/>
          </a:prstGeom>
          <a:solidFill>
            <a:srgbClr val="0052CC"/>
          </a:solidFill>
          <a:ln/>
        </p:spPr>
      </p:sp>
      <p:sp>
        <p:nvSpPr>
          <p:cNvPr id="11" name="Text 8"/>
          <p:cNvSpPr/>
          <p:nvPr/>
        </p:nvSpPr>
        <p:spPr>
          <a:xfrm>
            <a:off x="714375" y="3043461"/>
            <a:ext cx="785812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333333"/>
                </a:solidFill>
              </a:rPr>
              <a:t>Instructor</a:t>
            </a:r>
            <a:endParaRPr lang="en-US" sz="683" dirty="0"/>
          </a:p>
        </p:txBody>
      </p:sp>
      <p:sp>
        <p:nvSpPr>
          <p:cNvPr id="12" name="Text 9"/>
          <p:cNvSpPr/>
          <p:nvPr/>
        </p:nvSpPr>
        <p:spPr>
          <a:xfrm>
            <a:off x="714375" y="3236342"/>
            <a:ext cx="7858125" cy="214313"/>
          </a:xfrm>
          <a:prstGeom prst="rect">
            <a:avLst/>
          </a:prstGeom>
          <a:noFill/>
          <a:ln/>
        </p:spPr>
        <p:txBody>
          <a:bodyPr wrap="none" lIns="0" tIns="0" rIns="0" bIns="0" rtlCol="0" anchor="t">
            <a:spAutoFit/>
          </a:bodyPr>
          <a:lstStyle/>
          <a:p>
            <a:pPr algn="l" indent="0" marL="0">
              <a:lnSpc>
                <a:spcPts val="1500"/>
              </a:lnSpc>
              <a:buNone/>
            </a:pPr>
            <a:r>
              <a:rPr lang="en-US" sz="1090" b="1" dirty="0">
                <a:solidFill>
                  <a:srgbClr val="1A1A1A"/>
                </a:solidFill>
              </a:rPr>
              <a:t>Dr. Osamah Ghaleb</a:t>
            </a:r>
            <a:endParaRPr lang="en-US" sz="1090" dirty="0"/>
          </a:p>
        </p:txBody>
      </p:sp>
      <p:sp>
        <p:nvSpPr>
          <p:cNvPr id="13" name="Shape 10"/>
          <p:cNvSpPr/>
          <p:nvPr/>
        </p:nvSpPr>
        <p:spPr>
          <a:xfrm>
            <a:off x="571500" y="3683329"/>
            <a:ext cx="8001000" cy="1031491"/>
          </a:xfrm>
          <a:prstGeom prst="rect">
            <a:avLst/>
          </a:prstGeom>
          <a:solidFill>
            <a:srgbClr val="000000">
              <a:alpha val="0"/>
            </a:srgbClr>
          </a:solidFill>
          <a:ln/>
        </p:spPr>
      </p:sp>
      <p:sp>
        <p:nvSpPr>
          <p:cNvPr id="14" name="Shape 11"/>
          <p:cNvSpPr/>
          <p:nvPr/>
        </p:nvSpPr>
        <p:spPr>
          <a:xfrm>
            <a:off x="571500" y="3683329"/>
            <a:ext cx="28575" cy="1031491"/>
          </a:xfrm>
          <a:prstGeom prst="rect">
            <a:avLst/>
          </a:prstGeom>
          <a:solidFill>
            <a:srgbClr val="0052CC"/>
          </a:solidFill>
          <a:ln/>
        </p:spPr>
      </p:sp>
      <p:sp>
        <p:nvSpPr>
          <p:cNvPr id="15" name="Text 12"/>
          <p:cNvSpPr/>
          <p:nvPr/>
        </p:nvSpPr>
        <p:spPr>
          <a:xfrm>
            <a:off x="714375" y="3683329"/>
            <a:ext cx="785812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333333"/>
                </a:solidFill>
              </a:rPr>
              <a:t>Prepared By</a:t>
            </a:r>
            <a:endParaRPr lang="en-US" sz="683" dirty="0"/>
          </a:p>
        </p:txBody>
      </p:sp>
      <p:sp>
        <p:nvSpPr>
          <p:cNvPr id="16" name="Text 13"/>
          <p:cNvSpPr/>
          <p:nvPr/>
        </p:nvSpPr>
        <p:spPr>
          <a:xfrm>
            <a:off x="714375" y="3926216"/>
            <a:ext cx="7858125"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1A1A1A"/>
                </a:solidFill>
              </a:rPr>
              <a:t>Sallam Hamdan Sallam Al-Omrani</a:t>
            </a:r>
            <a:pPr algn="l" indent="0" marL="0">
              <a:lnSpc>
                <a:spcPts val="1600"/>
              </a:lnSpc>
              <a:buNone/>
            </a:pPr>
            <a:r>
              <a:rPr lang="en-US" sz="727" dirty="0">
                <a:solidFill>
                  <a:srgbClr val="333333"/>
                </a:solidFill>
              </a:rPr>
              <a:t>202322090</a:t>
            </a:r>
            <a:endParaRPr lang="en-US" sz="784" dirty="0"/>
          </a:p>
        </p:txBody>
      </p:sp>
      <p:sp>
        <p:nvSpPr>
          <p:cNvPr id="17" name="Text 14"/>
          <p:cNvSpPr/>
          <p:nvPr/>
        </p:nvSpPr>
        <p:spPr>
          <a:xfrm>
            <a:off x="714375" y="4189084"/>
            <a:ext cx="7858125"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1A1A1A"/>
                </a:solidFill>
              </a:rPr>
              <a:t>Abdullah Ali Khalaf Al-Rashidi</a:t>
            </a:r>
            <a:pPr algn="l" indent="0" marL="0">
              <a:lnSpc>
                <a:spcPts val="1600"/>
              </a:lnSpc>
              <a:buNone/>
            </a:pPr>
            <a:r>
              <a:rPr lang="en-US" sz="727" dirty="0">
                <a:solidFill>
                  <a:srgbClr val="333333"/>
                </a:solidFill>
              </a:rPr>
              <a:t>202422065</a:t>
            </a:r>
            <a:endParaRPr lang="en-US" sz="784" dirty="0"/>
          </a:p>
        </p:txBody>
      </p:sp>
      <p:sp>
        <p:nvSpPr>
          <p:cNvPr id="18" name="Text 15"/>
          <p:cNvSpPr/>
          <p:nvPr/>
        </p:nvSpPr>
        <p:spPr>
          <a:xfrm>
            <a:off x="714375" y="4451952"/>
            <a:ext cx="7858125" cy="205718"/>
          </a:xfrm>
          <a:prstGeom prst="rect">
            <a:avLst/>
          </a:prstGeom>
          <a:noFill/>
          <a:ln/>
        </p:spPr>
        <p:txBody>
          <a:bodyPr wrap="none" lIns="0" tIns="0" rIns="0" bIns="0" rtlCol="0" anchor="t">
            <a:spAutoFit/>
          </a:bodyPr>
          <a:lstStyle/>
          <a:p>
            <a:pPr algn="l" indent="0" marL="0">
              <a:lnSpc>
                <a:spcPts val="1600"/>
              </a:lnSpc>
              <a:buNone/>
            </a:pPr>
            <a:r>
              <a:rPr lang="en-US" sz="784" b="1" dirty="0">
                <a:solidFill>
                  <a:srgbClr val="1A1A1A"/>
                </a:solidFill>
              </a:rPr>
              <a:t>Ayman Abdullah Al-Omari</a:t>
            </a:r>
            <a:pPr algn="l" indent="0" marL="0">
              <a:lnSpc>
                <a:spcPts val="1600"/>
              </a:lnSpc>
              <a:buNone/>
            </a:pPr>
            <a:r>
              <a:rPr lang="en-US" sz="727" dirty="0">
                <a:solidFill>
                  <a:srgbClr val="333333"/>
                </a:solidFill>
              </a:rPr>
              <a:t>202412014</a:t>
            </a:r>
            <a:endParaRPr lang="en-US" sz="78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rPr>
              <a:t>The </a:t>
            </a:r>
            <a:pPr algn="l" indent="0" marL="0">
              <a:lnSpc>
                <a:spcPts val="3200"/>
              </a:lnSpc>
              <a:buNone/>
            </a:pPr>
            <a:r>
              <a:rPr lang="en-US" sz="2436" b="1" dirty="0">
                <a:solidFill>
                  <a:srgbClr val="0052CC"/>
                </a:solidFill>
              </a:rPr>
              <a:t>Problem</a:t>
            </a:r>
            <a:pPr algn="l" indent="0" marL="0">
              <a:lnSpc>
                <a:spcPts val="3200"/>
              </a:lnSpc>
              <a:buNone/>
            </a:pPr>
            <a:r>
              <a:rPr lang="en-US" sz="2436" b="1" dirty="0">
                <a:solidFill>
                  <a:srgbClr val="1A1A1A"/>
                </a:solidFill>
              </a:rPr>
              <a:t>: Manual Event Management</a:t>
            </a:r>
            <a:endParaRPr lang="en-US" sz="2436" dirty="0"/>
          </a:p>
        </p:txBody>
      </p:sp>
      <p:sp>
        <p:nvSpPr>
          <p:cNvPr id="4" name="Text 1"/>
          <p:cNvSpPr/>
          <p:nvPr/>
        </p:nvSpPr>
        <p:spPr>
          <a:xfrm>
            <a:off x="571500" y="1268713"/>
            <a:ext cx="6429375" cy="655746"/>
          </a:xfrm>
          <a:prstGeom prst="rect">
            <a:avLst/>
          </a:prstGeom>
          <a:noFill/>
          <a:ln/>
        </p:spPr>
        <p:txBody>
          <a:bodyPr wrap="square" lIns="0" tIns="0" rIns="0" bIns="0" rtlCol="0" anchor="t">
            <a:spAutoFit/>
          </a:bodyPr>
          <a:lstStyle/>
          <a:p>
            <a:pPr algn="l" indent="0" marL="0">
              <a:lnSpc>
                <a:spcPts val="1700"/>
              </a:lnSpc>
              <a:buNone/>
            </a:pPr>
            <a:r>
              <a:rPr lang="en-US" sz="942" dirty="0">
                <a:solidFill>
                  <a:srgbClr val="333333"/>
                </a:solidFill>
              </a:rPr>
              <a:t>Traditional event management processes often rely on manual methods, such as spreadsheets and email communication, which are prone to errors, lack scalability, and consume significant administrative time. This leads to inefficiencies in registration, attendee tracking, and communication.</a:t>
            </a:r>
            <a:endParaRPr lang="en-US" sz="942" dirty="0"/>
          </a:p>
        </p:txBody>
      </p:sp>
      <p:sp>
        <p:nvSpPr>
          <p:cNvPr id="5" name="Text 2"/>
          <p:cNvSpPr/>
          <p:nvPr/>
        </p:nvSpPr>
        <p:spPr>
          <a:xfrm>
            <a:off x="571500" y="2210209"/>
            <a:ext cx="3893344"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52CC"/>
                </a:solidFill>
              </a:rPr>
              <a:t>Data Inconsistency</a:t>
            </a:r>
            <a:endParaRPr lang="en-US" sz="784" dirty="0"/>
          </a:p>
        </p:txBody>
      </p:sp>
      <p:sp>
        <p:nvSpPr>
          <p:cNvPr id="6" name="Text 3"/>
          <p:cNvSpPr/>
          <p:nvPr/>
        </p:nvSpPr>
        <p:spPr>
          <a:xfrm>
            <a:off x="571500" y="2437023"/>
            <a:ext cx="3893344"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333333"/>
                </a:solidFill>
              </a:rPr>
              <a:t>Difficulty in maintaining a single, accurate source of truth for attendee data across multiple systems.</a:t>
            </a:r>
            <a:endParaRPr lang="en-US" sz="780" dirty="0"/>
          </a:p>
        </p:txBody>
      </p:sp>
      <p:sp>
        <p:nvSpPr>
          <p:cNvPr id="7" name="Text 4"/>
          <p:cNvSpPr/>
          <p:nvPr/>
        </p:nvSpPr>
        <p:spPr>
          <a:xfrm>
            <a:off x="4679156" y="2210209"/>
            <a:ext cx="3893344"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52CC"/>
                </a:solidFill>
              </a:rPr>
              <a:t>Inefficient Registration</a:t>
            </a:r>
            <a:endParaRPr lang="en-US" sz="784" dirty="0"/>
          </a:p>
        </p:txBody>
      </p:sp>
      <p:sp>
        <p:nvSpPr>
          <p:cNvPr id="8" name="Text 5"/>
          <p:cNvSpPr/>
          <p:nvPr/>
        </p:nvSpPr>
        <p:spPr>
          <a:xfrm>
            <a:off x="4679156" y="2437023"/>
            <a:ext cx="3893344"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333333"/>
                </a:solidFill>
              </a:rPr>
              <a:t>Manual form processing and confirmation delays result in poor user experience and administrative overhead.</a:t>
            </a:r>
            <a:endParaRPr lang="en-US" sz="780" dirty="0"/>
          </a:p>
        </p:txBody>
      </p:sp>
      <p:sp>
        <p:nvSpPr>
          <p:cNvPr id="9" name="Text 6"/>
          <p:cNvSpPr/>
          <p:nvPr/>
        </p:nvSpPr>
        <p:spPr>
          <a:xfrm>
            <a:off x="571500" y="2994236"/>
            <a:ext cx="3893344"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52CC"/>
                </a:solidFill>
              </a:rPr>
              <a:t>Lack of Real-time Insights</a:t>
            </a:r>
            <a:endParaRPr lang="en-US" sz="784" dirty="0"/>
          </a:p>
        </p:txBody>
      </p:sp>
      <p:sp>
        <p:nvSpPr>
          <p:cNvPr id="10" name="Text 7"/>
          <p:cNvSpPr/>
          <p:nvPr/>
        </p:nvSpPr>
        <p:spPr>
          <a:xfrm>
            <a:off x="571500" y="3221050"/>
            <a:ext cx="3893344"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333333"/>
                </a:solidFill>
              </a:rPr>
              <a:t>Inability to monitor registration progress and capacity in real-time, leading to poor decision-making.</a:t>
            </a:r>
            <a:endParaRPr lang="en-US" sz="780" dirty="0"/>
          </a:p>
        </p:txBody>
      </p:sp>
      <p:sp>
        <p:nvSpPr>
          <p:cNvPr id="11" name="Text 8"/>
          <p:cNvSpPr/>
          <p:nvPr/>
        </p:nvSpPr>
        <p:spPr>
          <a:xfrm>
            <a:off x="4679156" y="2994236"/>
            <a:ext cx="3893344" cy="155377"/>
          </a:xfrm>
          <a:prstGeom prst="rect">
            <a:avLst/>
          </a:prstGeom>
          <a:noFill/>
          <a:ln/>
        </p:spPr>
        <p:txBody>
          <a:bodyPr wrap="none" lIns="0" tIns="0" rIns="0" bIns="0" rtlCol="0" anchor="t">
            <a:spAutoFit/>
          </a:bodyPr>
          <a:lstStyle/>
          <a:p>
            <a:pPr algn="l" indent="0" marL="0">
              <a:lnSpc>
                <a:spcPts val="1100"/>
              </a:lnSpc>
              <a:buNone/>
            </a:pPr>
            <a:r>
              <a:rPr lang="en-US" sz="784" b="1" spc="1" kern="0" dirty="0">
                <a:solidFill>
                  <a:srgbClr val="0052CC"/>
                </a:solidFill>
              </a:rPr>
              <a:t>Poor Scalability</a:t>
            </a:r>
            <a:endParaRPr lang="en-US" sz="784" dirty="0"/>
          </a:p>
        </p:txBody>
      </p:sp>
      <p:sp>
        <p:nvSpPr>
          <p:cNvPr id="12" name="Text 9"/>
          <p:cNvSpPr/>
          <p:nvPr/>
        </p:nvSpPr>
        <p:spPr>
          <a:xfrm>
            <a:off x="4679156" y="3221050"/>
            <a:ext cx="3893344" cy="34290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333333"/>
                </a:solidFill>
              </a:rPr>
              <a:t>Manual systems break down when managing a large number of events or attendees, limiting growth.</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5000625" cy="822927"/>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1A1A1A"/>
                </a:solidFill>
              </a:rPr>
              <a:t>Introducing the </a:t>
            </a:r>
            <a:pPr algn="l" indent="0" marL="0">
              <a:lnSpc>
                <a:spcPts val="3200"/>
              </a:lnSpc>
              <a:buNone/>
            </a:pPr>
            <a:r>
              <a:rPr lang="en-US" sz="2436" b="1" dirty="0">
                <a:solidFill>
                  <a:srgbClr val="0052CC"/>
                </a:solidFill>
              </a:rPr>
              <a:t>Event </a:t>
            </a:r>
            <a:pPr algn="l" indent="0" marL="0">
              <a:lnSpc>
                <a:spcPts val="3200"/>
              </a:lnSpc>
              <a:buNone/>
            </a:pPr>
            <a:r>
              <a:rPr lang="en-US" sz="2436" b="1" dirty="0">
                <a:solidFill>
                  <a:srgbClr val="0052CC"/>
                </a:solidFill>
              </a:rPr>
              <a:t>Management System</a:t>
            </a:r>
            <a:endParaRPr lang="en-US" sz="2436" dirty="0"/>
          </a:p>
        </p:txBody>
      </p:sp>
      <p:sp>
        <p:nvSpPr>
          <p:cNvPr id="4" name="Text 1"/>
          <p:cNvSpPr/>
          <p:nvPr/>
        </p:nvSpPr>
        <p:spPr>
          <a:xfrm>
            <a:off x="571500" y="1358708"/>
            <a:ext cx="5000625" cy="233958"/>
          </a:xfrm>
          <a:prstGeom prst="rect">
            <a:avLst/>
          </a:prstGeom>
          <a:noFill/>
          <a:ln/>
        </p:spPr>
        <p:txBody>
          <a:bodyPr wrap="none" lIns="0" tIns="0" rIns="0" bIns="0" rtlCol="0" anchor="t">
            <a:spAutoFit/>
          </a:bodyPr>
          <a:lstStyle/>
          <a:p>
            <a:pPr algn="l" indent="0" marL="0">
              <a:lnSpc>
                <a:spcPts val="1600"/>
              </a:lnSpc>
              <a:buNone/>
            </a:pPr>
            <a:r>
              <a:rPr lang="en-US" sz="1193" b="1" dirty="0">
                <a:solidFill>
                  <a:srgbClr val="0052CC"/>
                </a:solidFill>
              </a:rPr>
              <a:t>A Centralized Digital Platform</a:t>
            </a:r>
            <a:endParaRPr lang="en-US" sz="1193" dirty="0"/>
          </a:p>
        </p:txBody>
      </p:sp>
      <p:sp>
        <p:nvSpPr>
          <p:cNvPr id="5" name="Text 2"/>
          <p:cNvSpPr/>
          <p:nvPr/>
        </p:nvSpPr>
        <p:spPr>
          <a:xfrm>
            <a:off x="571500" y="1771259"/>
            <a:ext cx="5000625" cy="582913"/>
          </a:xfrm>
          <a:prstGeom prst="rect">
            <a:avLst/>
          </a:prstGeom>
          <a:noFill/>
          <a:ln/>
        </p:spPr>
        <p:txBody>
          <a:bodyPr wrap="square" lIns="0" tIns="0" rIns="0" bIns="0" rtlCol="0" anchor="t">
            <a:spAutoFit/>
          </a:bodyPr>
          <a:lstStyle/>
          <a:p>
            <a:pPr algn="l" indent="0" marL="0">
              <a:lnSpc>
                <a:spcPts val="1500"/>
              </a:lnSpc>
              <a:buNone/>
            </a:pPr>
            <a:r>
              <a:rPr lang="en-US" sz="834" dirty="0">
                <a:solidFill>
                  <a:srgbClr val="333333"/>
                </a:solidFill>
              </a:rPr>
              <a:t>The EMS is a web-based application designed to streamline the entire event lifecycle, from creation and promotion to registration and post-event analysis. It provides a single, centralized platform for both administrators and attendees.</a:t>
            </a:r>
            <a:endParaRPr lang="en-US" sz="834" dirty="0"/>
          </a:p>
        </p:txBody>
      </p:sp>
      <p:sp>
        <p:nvSpPr>
          <p:cNvPr id="6" name="Text 3"/>
          <p:cNvSpPr/>
          <p:nvPr/>
        </p:nvSpPr>
        <p:spPr>
          <a:xfrm>
            <a:off x="571500" y="2568485"/>
            <a:ext cx="500062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333333"/>
                </a:solidFill>
              </a:rPr>
              <a:t>Core Features</a:t>
            </a:r>
            <a:endParaRPr lang="en-US" sz="683" dirty="0"/>
          </a:p>
        </p:txBody>
      </p:sp>
      <p:sp>
        <p:nvSpPr>
          <p:cNvPr id="7" name="Text 4"/>
          <p:cNvSpPr/>
          <p:nvPr/>
        </p:nvSpPr>
        <p:spPr>
          <a:xfrm>
            <a:off x="571500" y="2811373"/>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8" name="Text 5"/>
          <p:cNvSpPr/>
          <p:nvPr/>
        </p:nvSpPr>
        <p:spPr>
          <a:xfrm>
            <a:off x="714375" y="2834590"/>
            <a:ext cx="1634579" cy="146447"/>
          </a:xfrm>
          <a:prstGeom prst="rect">
            <a:avLst/>
          </a:prstGeom>
          <a:noFill/>
          <a:ln/>
        </p:spPr>
        <p:txBody>
          <a:bodyPr wrap="none" lIns="0" tIns="0" rIns="0" bIns="0" rtlCol="0" anchor="t">
            <a:spAutoFit/>
          </a:bodyPr>
          <a:lstStyle/>
          <a:p>
            <a:pPr algn="l" indent="0" marL="0">
              <a:lnSpc>
                <a:spcPts val="1500"/>
              </a:lnSpc>
              <a:buNone/>
            </a:pPr>
            <a:r>
              <a:rPr lang="en-US" sz="734" b="1" dirty="0">
                <a:solidFill>
                  <a:srgbClr val="1A1A1A"/>
                </a:solidFill>
              </a:rPr>
              <a:t>Event Creation &amp; Management:</a:t>
            </a:r>
            <a:endParaRPr lang="en-US" sz="734" dirty="0"/>
          </a:p>
        </p:txBody>
      </p:sp>
      <p:sp>
        <p:nvSpPr>
          <p:cNvPr id="9" name="Text 6"/>
          <p:cNvSpPr/>
          <p:nvPr/>
        </p:nvSpPr>
        <p:spPr>
          <a:xfrm>
            <a:off x="2348954" y="2834590"/>
            <a:ext cx="3151036" cy="146447"/>
          </a:xfrm>
          <a:prstGeom prst="rect">
            <a:avLst/>
          </a:prstGeom>
          <a:noFill/>
          <a:ln/>
        </p:spPr>
        <p:txBody>
          <a:bodyPr wrap="none" lIns="0" tIns="0" rIns="0" bIns="0" rtlCol="0" anchor="t">
            <a:spAutoFit/>
          </a:bodyPr>
          <a:lstStyle/>
          <a:p>
            <a:pPr algn="l" indent="0" marL="0">
              <a:lnSpc>
                <a:spcPts val="1500"/>
              </a:lnSpc>
              <a:buNone/>
            </a:pPr>
            <a:r>
              <a:rPr lang="en-US" sz="780" dirty="0">
                <a:solidFill>
                  <a:srgbClr val="1A1A1A"/>
                </a:solidFill>
              </a:rPr>
              <a:t>Administrators can easily create, edit, and publish new events.</a:t>
            </a:r>
            <a:endParaRPr lang="en-US" sz="780" dirty="0"/>
          </a:p>
        </p:txBody>
      </p:sp>
      <p:sp>
        <p:nvSpPr>
          <p:cNvPr id="10" name="Text 7"/>
          <p:cNvSpPr/>
          <p:nvPr/>
        </p:nvSpPr>
        <p:spPr>
          <a:xfrm>
            <a:off x="571500" y="3089979"/>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11" name="Text 8"/>
          <p:cNvSpPr/>
          <p:nvPr/>
        </p:nvSpPr>
        <p:spPr>
          <a:xfrm>
            <a:off x="714375" y="3113196"/>
            <a:ext cx="1045862" cy="146447"/>
          </a:xfrm>
          <a:prstGeom prst="rect">
            <a:avLst/>
          </a:prstGeom>
          <a:noFill/>
          <a:ln/>
        </p:spPr>
        <p:txBody>
          <a:bodyPr wrap="none" lIns="0" tIns="0" rIns="0" bIns="0" rtlCol="0" anchor="t">
            <a:spAutoFit/>
          </a:bodyPr>
          <a:lstStyle/>
          <a:p>
            <a:pPr algn="l" indent="0" marL="0">
              <a:lnSpc>
                <a:spcPts val="1500"/>
              </a:lnSpc>
              <a:buNone/>
            </a:pPr>
            <a:r>
              <a:rPr lang="en-US" sz="734" b="1" dirty="0">
                <a:solidFill>
                  <a:srgbClr val="1A1A1A"/>
                </a:solidFill>
              </a:rPr>
              <a:t>Online Registration:</a:t>
            </a:r>
            <a:endParaRPr lang="en-US" sz="734" dirty="0"/>
          </a:p>
        </p:txBody>
      </p:sp>
      <p:sp>
        <p:nvSpPr>
          <p:cNvPr id="12" name="Text 9"/>
          <p:cNvSpPr/>
          <p:nvPr/>
        </p:nvSpPr>
        <p:spPr>
          <a:xfrm>
            <a:off x="1760237" y="3113196"/>
            <a:ext cx="3441976" cy="146447"/>
          </a:xfrm>
          <a:prstGeom prst="rect">
            <a:avLst/>
          </a:prstGeom>
          <a:noFill/>
          <a:ln/>
        </p:spPr>
        <p:txBody>
          <a:bodyPr wrap="none" lIns="0" tIns="0" rIns="0" bIns="0" rtlCol="0" anchor="t">
            <a:spAutoFit/>
          </a:bodyPr>
          <a:lstStyle/>
          <a:p>
            <a:pPr algn="l" indent="0" marL="0">
              <a:lnSpc>
                <a:spcPts val="1500"/>
              </a:lnSpc>
              <a:buNone/>
            </a:pPr>
            <a:r>
              <a:rPr lang="en-US" sz="780" dirty="0">
                <a:solidFill>
                  <a:srgbClr val="1A1A1A"/>
                </a:solidFill>
              </a:rPr>
              <a:t>A simple, user-friendly interface for attendees to register for events.</a:t>
            </a:r>
            <a:endParaRPr lang="en-US" sz="780" dirty="0"/>
          </a:p>
        </p:txBody>
      </p:sp>
      <p:sp>
        <p:nvSpPr>
          <p:cNvPr id="13" name="Text 10"/>
          <p:cNvSpPr/>
          <p:nvPr/>
        </p:nvSpPr>
        <p:spPr>
          <a:xfrm>
            <a:off x="571500" y="3368585"/>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14" name="Text 11"/>
          <p:cNvSpPr/>
          <p:nvPr/>
        </p:nvSpPr>
        <p:spPr>
          <a:xfrm>
            <a:off x="714375" y="3391802"/>
            <a:ext cx="1004283" cy="146447"/>
          </a:xfrm>
          <a:prstGeom prst="rect">
            <a:avLst/>
          </a:prstGeom>
          <a:noFill/>
          <a:ln/>
        </p:spPr>
        <p:txBody>
          <a:bodyPr wrap="none" lIns="0" tIns="0" rIns="0" bIns="0" rtlCol="0" anchor="t">
            <a:spAutoFit/>
          </a:bodyPr>
          <a:lstStyle/>
          <a:p>
            <a:pPr algn="l" indent="0" marL="0">
              <a:lnSpc>
                <a:spcPts val="1500"/>
              </a:lnSpc>
              <a:buNone/>
            </a:pPr>
            <a:r>
              <a:rPr lang="en-US" sz="734" b="1" dirty="0">
                <a:solidFill>
                  <a:srgbClr val="1A1A1A"/>
                </a:solidFill>
              </a:rPr>
              <a:t>Real-time Tracking:</a:t>
            </a:r>
            <a:endParaRPr lang="en-US" sz="734" dirty="0"/>
          </a:p>
        </p:txBody>
      </p:sp>
      <p:sp>
        <p:nvSpPr>
          <p:cNvPr id="15" name="Text 12"/>
          <p:cNvSpPr/>
          <p:nvPr/>
        </p:nvSpPr>
        <p:spPr>
          <a:xfrm>
            <a:off x="714375" y="3391802"/>
            <a:ext cx="4847676" cy="339328"/>
          </a:xfrm>
          <a:prstGeom prst="rect">
            <a:avLst/>
          </a:prstGeom>
          <a:noFill/>
          <a:ln/>
        </p:spPr>
        <p:txBody>
          <a:bodyPr wrap="square" lIns="0" tIns="0" rIns="0" bIns="0" rtlCol="0" anchor="t">
            <a:spAutoFit/>
          </a:bodyPr>
          <a:lstStyle/>
          <a:p>
            <a:pPr algn="l" indent="0" marL="0">
              <a:lnSpc>
                <a:spcPts val="1500"/>
              </a:lnSpc>
              <a:buNone/>
            </a:pPr>
            <a:r>
              <a:rPr lang="en-US" sz="780" dirty="0">
                <a:solidFill>
                  <a:srgbClr val="1A1A1A"/>
                </a:solidFill>
              </a:rPr>
              <a:t>The system provides immediate updates on registration numbers and event capacity.</a:t>
            </a:r>
            <a:endParaRPr lang="en-US" sz="780" dirty="0"/>
          </a:p>
        </p:txBody>
      </p:sp>
      <p:sp>
        <p:nvSpPr>
          <p:cNvPr id="16" name="Text 13"/>
          <p:cNvSpPr/>
          <p:nvPr/>
        </p:nvSpPr>
        <p:spPr>
          <a:xfrm>
            <a:off x="571500" y="3840073"/>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17" name="Text 14"/>
          <p:cNvSpPr/>
          <p:nvPr/>
        </p:nvSpPr>
        <p:spPr>
          <a:xfrm>
            <a:off x="714375" y="3863290"/>
            <a:ext cx="1193955" cy="146447"/>
          </a:xfrm>
          <a:prstGeom prst="rect">
            <a:avLst/>
          </a:prstGeom>
          <a:noFill/>
          <a:ln/>
        </p:spPr>
        <p:txBody>
          <a:bodyPr wrap="none" lIns="0" tIns="0" rIns="0" bIns="0" rtlCol="0" anchor="t">
            <a:spAutoFit/>
          </a:bodyPr>
          <a:lstStyle/>
          <a:p>
            <a:pPr algn="l" indent="0" marL="0">
              <a:lnSpc>
                <a:spcPts val="1500"/>
              </a:lnSpc>
              <a:buNone/>
            </a:pPr>
            <a:r>
              <a:rPr lang="en-US" sz="734" b="1" dirty="0">
                <a:solidFill>
                  <a:srgbClr val="1A1A1A"/>
                </a:solidFill>
              </a:rPr>
              <a:t>Secure Administration:</a:t>
            </a:r>
            <a:endParaRPr lang="en-US" sz="734" dirty="0"/>
          </a:p>
        </p:txBody>
      </p:sp>
      <p:sp>
        <p:nvSpPr>
          <p:cNvPr id="18" name="Text 15"/>
          <p:cNvSpPr/>
          <p:nvPr/>
        </p:nvSpPr>
        <p:spPr>
          <a:xfrm>
            <a:off x="1908330" y="3863290"/>
            <a:ext cx="3534761" cy="146447"/>
          </a:xfrm>
          <a:prstGeom prst="rect">
            <a:avLst/>
          </a:prstGeom>
          <a:noFill/>
          <a:ln/>
        </p:spPr>
        <p:txBody>
          <a:bodyPr wrap="none" lIns="0" tIns="0" rIns="0" bIns="0" rtlCol="0" anchor="t">
            <a:spAutoFit/>
          </a:bodyPr>
          <a:lstStyle/>
          <a:p>
            <a:pPr algn="l" indent="0" marL="0">
              <a:lnSpc>
                <a:spcPts val="1500"/>
              </a:lnSpc>
              <a:buNone/>
            </a:pPr>
            <a:r>
              <a:rPr lang="en-US" sz="780" dirty="0">
                <a:solidFill>
                  <a:srgbClr val="1A1A1A"/>
                </a:solidFill>
              </a:rPr>
              <a:t>A dedicated dashboard for managing events, users, and registrations.</a:t>
            </a:r>
            <a:endParaRPr lang="en-US" sz="780" dirty="0"/>
          </a:p>
        </p:txBody>
      </p:sp>
      <p:pic>
        <p:nvPicPr>
          <p:cNvPr id="19" name="Image 1" descr="preencoded.png">    </p:cNvPr>
          <p:cNvPicPr>
            <a:picLocks noChangeAspect="1"/>
          </p:cNvPicPr>
          <p:nvPr/>
        </p:nvPicPr>
        <p:blipFill>
          <a:blip r:embed="rId2"/>
          <a:stretch>
            <a:fillRect/>
          </a:stretch>
        </p:blipFill>
        <p:spPr>
          <a:xfrm>
            <a:off x="5857875" y="428625"/>
            <a:ext cx="2714625" cy="27146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rPr>
              <a:t>System Design: </a:t>
            </a:r>
            <a:pPr algn="l" indent="0" marL="0">
              <a:lnSpc>
                <a:spcPts val="3200"/>
              </a:lnSpc>
              <a:buNone/>
            </a:pPr>
            <a:r>
              <a:rPr lang="en-US" sz="2436" b="1" dirty="0">
                <a:solidFill>
                  <a:srgbClr val="0052CC"/>
                </a:solidFill>
              </a:rPr>
              <a:t>Three-Tier Architecture</a:t>
            </a:r>
            <a:endParaRPr lang="en-US" sz="2436" dirty="0"/>
          </a:p>
        </p:txBody>
      </p:sp>
      <p:sp>
        <p:nvSpPr>
          <p:cNvPr id="4" name="Text 1"/>
          <p:cNvSpPr/>
          <p:nvPr/>
        </p:nvSpPr>
        <p:spPr>
          <a:xfrm>
            <a:off x="571500" y="911526"/>
            <a:ext cx="8001000"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0052CC"/>
                </a:solidFill>
              </a:rPr>
              <a:t>Technical Foundation</a:t>
            </a:r>
            <a:endParaRPr lang="en-US" sz="987" dirty="0"/>
          </a:p>
        </p:txBody>
      </p:sp>
      <p:pic>
        <p:nvPicPr>
          <p:cNvPr id="5" name="Image 1" descr="preencoded.png">    </p:cNvPr>
          <p:cNvPicPr>
            <a:picLocks noChangeAspect="1"/>
          </p:cNvPicPr>
          <p:nvPr/>
        </p:nvPicPr>
        <p:blipFill>
          <a:blip r:embed="rId2"/>
          <a:stretch>
            <a:fillRect/>
          </a:stretch>
        </p:blipFill>
        <p:spPr>
          <a:xfrm>
            <a:off x="571500" y="1391943"/>
            <a:ext cx="2714625" cy="2714625"/>
          </a:xfrm>
          <a:prstGeom prst="rect">
            <a:avLst/>
          </a:prstGeom>
        </p:spPr>
      </p:pic>
      <p:sp>
        <p:nvSpPr>
          <p:cNvPr id="6" name="Text 2"/>
          <p:cNvSpPr/>
          <p:nvPr/>
        </p:nvSpPr>
        <p:spPr>
          <a:xfrm>
            <a:off x="3714750" y="1391943"/>
            <a:ext cx="4857750"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333333"/>
                </a:solidFill>
              </a:rPr>
              <a:t>Technology Stack</a:t>
            </a:r>
            <a:endParaRPr lang="en-US" sz="683" dirty="0"/>
          </a:p>
        </p:txBody>
      </p:sp>
      <p:sp>
        <p:nvSpPr>
          <p:cNvPr id="7" name="Shape 3"/>
          <p:cNvSpPr/>
          <p:nvPr/>
        </p:nvSpPr>
        <p:spPr>
          <a:xfrm>
            <a:off x="3714750" y="1670549"/>
            <a:ext cx="4857750" cy="338603"/>
          </a:xfrm>
          <a:prstGeom prst="rect">
            <a:avLst/>
          </a:prstGeom>
          <a:solidFill>
            <a:srgbClr val="F2F2F2"/>
          </a:solidFill>
          <a:ln/>
        </p:spPr>
      </p:sp>
      <p:sp>
        <p:nvSpPr>
          <p:cNvPr id="8" name="Text 4"/>
          <p:cNvSpPr/>
          <p:nvPr/>
        </p:nvSpPr>
        <p:spPr>
          <a:xfrm>
            <a:off x="3714750" y="1670549"/>
            <a:ext cx="1214438" cy="338603"/>
          </a:xfrm>
          <a:prstGeom prst="rect">
            <a:avLst/>
          </a:prstGeom>
          <a:noFill/>
          <a:ln/>
        </p:spPr>
        <p:txBody>
          <a:bodyPr wrap="square" lIns="0" tIns="102108" rIns="0" bIns="102108" rtlCol="0" anchor="ctr">
            <a:spAutoFit/>
          </a:bodyPr>
          <a:lstStyle/>
          <a:p>
            <a:pPr algn="l" indent="0" marL="0">
              <a:lnSpc>
                <a:spcPts val="900"/>
              </a:lnSpc>
              <a:buNone/>
            </a:pPr>
            <a:r>
              <a:rPr lang="en-US" sz="683" b="1" dirty="0">
                <a:solidFill>
                  <a:srgbClr val="1A1A1A"/>
                </a:solidFill>
              </a:rPr>
              <a:t>Component</a:t>
            </a:r>
            <a:endParaRPr lang="en-US" sz="683" dirty="0"/>
          </a:p>
        </p:txBody>
      </p:sp>
      <p:sp>
        <p:nvSpPr>
          <p:cNvPr id="9" name="Text 5"/>
          <p:cNvSpPr/>
          <p:nvPr/>
        </p:nvSpPr>
        <p:spPr>
          <a:xfrm>
            <a:off x="4929188" y="1670549"/>
            <a:ext cx="1214438" cy="338603"/>
          </a:xfrm>
          <a:prstGeom prst="rect">
            <a:avLst/>
          </a:prstGeom>
          <a:noFill/>
          <a:ln/>
        </p:spPr>
        <p:txBody>
          <a:bodyPr wrap="square" lIns="0" tIns="102108" rIns="0" bIns="102108" rtlCol="0" anchor="ctr">
            <a:spAutoFit/>
          </a:bodyPr>
          <a:lstStyle/>
          <a:p>
            <a:pPr algn="l" indent="0" marL="0">
              <a:lnSpc>
                <a:spcPts val="900"/>
              </a:lnSpc>
              <a:buNone/>
            </a:pPr>
            <a:r>
              <a:rPr lang="en-US" sz="683" b="1" dirty="0">
                <a:solidFill>
                  <a:srgbClr val="1A1A1A"/>
                </a:solidFill>
              </a:rPr>
              <a:t>Technology</a:t>
            </a:r>
            <a:endParaRPr lang="en-US" sz="683" dirty="0"/>
          </a:p>
        </p:txBody>
      </p:sp>
      <p:sp>
        <p:nvSpPr>
          <p:cNvPr id="10" name="Text 6"/>
          <p:cNvSpPr/>
          <p:nvPr/>
        </p:nvSpPr>
        <p:spPr>
          <a:xfrm>
            <a:off x="6143625" y="1670549"/>
            <a:ext cx="2428875" cy="338603"/>
          </a:xfrm>
          <a:prstGeom prst="rect">
            <a:avLst/>
          </a:prstGeom>
          <a:noFill/>
          <a:ln/>
        </p:spPr>
        <p:txBody>
          <a:bodyPr wrap="square" lIns="0" tIns="102108" rIns="0" bIns="102108" rtlCol="0" anchor="ctr">
            <a:spAutoFit/>
          </a:bodyPr>
          <a:lstStyle/>
          <a:p>
            <a:pPr algn="l" indent="0" marL="0">
              <a:lnSpc>
                <a:spcPts val="1300"/>
              </a:lnSpc>
              <a:buNone/>
            </a:pPr>
            <a:r>
              <a:rPr lang="en-US" sz="683" b="1" dirty="0">
                <a:solidFill>
                  <a:srgbClr val="1A1A1A"/>
                </a:solidFill>
              </a:rPr>
              <a:t>Purpose</a:t>
            </a:r>
            <a:endParaRPr lang="en-US" sz="683" dirty="0"/>
          </a:p>
        </p:txBody>
      </p:sp>
      <p:sp>
        <p:nvSpPr>
          <p:cNvPr id="11" name="Text 7"/>
          <p:cNvSpPr/>
          <p:nvPr/>
        </p:nvSpPr>
        <p:spPr>
          <a:xfrm>
            <a:off x="3714750" y="2009152"/>
            <a:ext cx="1214438" cy="517922"/>
          </a:xfrm>
          <a:prstGeom prst="rect">
            <a:avLst/>
          </a:prstGeom>
          <a:noFill/>
          <a:ln/>
        </p:spPr>
        <p:txBody>
          <a:bodyPr wrap="square" lIns="0" tIns="127508" rIns="0" bIns="127508" rtlCol="0" anchor="ctr">
            <a:spAutoFit/>
          </a:bodyPr>
          <a:lstStyle/>
          <a:p>
            <a:pPr algn="l" indent="0" marL="0">
              <a:lnSpc>
                <a:spcPts val="1000"/>
              </a:lnSpc>
              <a:buNone/>
            </a:pPr>
            <a:r>
              <a:rPr lang="en-US" sz="734" b="1" dirty="0">
                <a:solidFill>
                  <a:srgbClr val="333333"/>
                </a:solidFill>
              </a:rPr>
              <a:t>Frontend</a:t>
            </a:r>
            <a:endParaRPr lang="en-US" sz="734" dirty="0"/>
          </a:p>
        </p:txBody>
      </p:sp>
      <p:sp>
        <p:nvSpPr>
          <p:cNvPr id="12" name="Text 8"/>
          <p:cNvSpPr/>
          <p:nvPr/>
        </p:nvSpPr>
        <p:spPr>
          <a:xfrm>
            <a:off x="4929188" y="2009152"/>
            <a:ext cx="1214438" cy="517922"/>
          </a:xfrm>
          <a:prstGeom prst="rect">
            <a:avLst/>
          </a:prstGeom>
          <a:noFill/>
          <a:ln/>
        </p:spPr>
        <p:txBody>
          <a:bodyPr wrap="square" lIns="0" tIns="127508" rIns="0" bIns="127508" rtlCol="0" anchor="ctr">
            <a:spAutoFit/>
          </a:bodyPr>
          <a:lstStyle/>
          <a:p>
            <a:pPr algn="l" indent="0" marL="0">
              <a:lnSpc>
                <a:spcPts val="1000"/>
              </a:lnSpc>
              <a:buNone/>
            </a:pPr>
            <a:r>
              <a:rPr lang="en-US" sz="734" b="1" dirty="0">
                <a:solidFill>
                  <a:srgbClr val="333333"/>
                </a:solidFill>
              </a:rPr>
              <a:t>HTML5, CSS3, JavaScript</a:t>
            </a:r>
            <a:endParaRPr lang="en-US" sz="734" dirty="0"/>
          </a:p>
        </p:txBody>
      </p:sp>
      <p:sp>
        <p:nvSpPr>
          <p:cNvPr id="13" name="Text 9"/>
          <p:cNvSpPr/>
          <p:nvPr/>
        </p:nvSpPr>
        <p:spPr>
          <a:xfrm>
            <a:off x="6143625" y="2009152"/>
            <a:ext cx="2428875" cy="517922"/>
          </a:xfrm>
          <a:prstGeom prst="rect">
            <a:avLst/>
          </a:prstGeom>
          <a:noFill/>
          <a:ln/>
        </p:spPr>
        <p:txBody>
          <a:bodyPr wrap="square" lIns="0" tIns="127508" rIns="0" bIns="127508" rtlCol="0" anchor="ctr">
            <a:spAutoFit/>
          </a:bodyPr>
          <a:lstStyle/>
          <a:p>
            <a:pPr algn="l" indent="0" marL="0">
              <a:lnSpc>
                <a:spcPts val="1400"/>
              </a:lnSpc>
              <a:buNone/>
            </a:pPr>
            <a:r>
              <a:rPr lang="en-US" sz="780" dirty="0">
                <a:solidFill>
                  <a:srgbClr val="333333"/>
                </a:solidFill>
              </a:rPr>
              <a:t>User Interface and Interaction</a:t>
            </a:r>
            <a:endParaRPr lang="en-US" sz="780" dirty="0"/>
          </a:p>
        </p:txBody>
      </p:sp>
      <p:sp>
        <p:nvSpPr>
          <p:cNvPr id="14" name="Text 10"/>
          <p:cNvSpPr/>
          <p:nvPr/>
        </p:nvSpPr>
        <p:spPr>
          <a:xfrm>
            <a:off x="3714750" y="2527074"/>
            <a:ext cx="1214438" cy="392906"/>
          </a:xfrm>
          <a:prstGeom prst="rect">
            <a:avLst/>
          </a:prstGeom>
          <a:noFill/>
          <a:ln/>
        </p:spPr>
        <p:txBody>
          <a:bodyPr wrap="square" lIns="0" tIns="127508" rIns="0" bIns="127508" rtlCol="0" anchor="ctr">
            <a:spAutoFit/>
          </a:bodyPr>
          <a:lstStyle/>
          <a:p>
            <a:pPr algn="l" indent="0" marL="0">
              <a:lnSpc>
                <a:spcPts val="1000"/>
              </a:lnSpc>
              <a:buNone/>
            </a:pPr>
            <a:r>
              <a:rPr lang="en-US" sz="734" b="1" dirty="0">
                <a:solidFill>
                  <a:srgbClr val="333333"/>
                </a:solidFill>
              </a:rPr>
              <a:t>Backend</a:t>
            </a:r>
            <a:endParaRPr lang="en-US" sz="734" dirty="0"/>
          </a:p>
        </p:txBody>
      </p:sp>
      <p:sp>
        <p:nvSpPr>
          <p:cNvPr id="15" name="Text 11"/>
          <p:cNvSpPr/>
          <p:nvPr/>
        </p:nvSpPr>
        <p:spPr>
          <a:xfrm>
            <a:off x="4929188" y="2527074"/>
            <a:ext cx="1214438" cy="392906"/>
          </a:xfrm>
          <a:prstGeom prst="rect">
            <a:avLst/>
          </a:prstGeom>
          <a:noFill/>
          <a:ln/>
        </p:spPr>
        <p:txBody>
          <a:bodyPr wrap="square" lIns="0" tIns="127508" rIns="0" bIns="127508" rtlCol="0" anchor="ctr">
            <a:spAutoFit/>
          </a:bodyPr>
          <a:lstStyle/>
          <a:p>
            <a:pPr algn="l" indent="0" marL="0">
              <a:lnSpc>
                <a:spcPts val="1000"/>
              </a:lnSpc>
              <a:buNone/>
            </a:pPr>
            <a:r>
              <a:rPr lang="en-US" sz="734" b="1" dirty="0">
                <a:solidFill>
                  <a:srgbClr val="333333"/>
                </a:solidFill>
              </a:rPr>
              <a:t>PHP</a:t>
            </a:r>
            <a:endParaRPr lang="en-US" sz="734" dirty="0"/>
          </a:p>
        </p:txBody>
      </p:sp>
      <p:sp>
        <p:nvSpPr>
          <p:cNvPr id="16" name="Text 12"/>
          <p:cNvSpPr/>
          <p:nvPr/>
        </p:nvSpPr>
        <p:spPr>
          <a:xfrm>
            <a:off x="6143625" y="2527074"/>
            <a:ext cx="2428875" cy="392906"/>
          </a:xfrm>
          <a:prstGeom prst="rect">
            <a:avLst/>
          </a:prstGeom>
          <a:noFill/>
          <a:ln/>
        </p:spPr>
        <p:txBody>
          <a:bodyPr wrap="square" lIns="0" tIns="127508" rIns="0" bIns="127508" rtlCol="0" anchor="ctr">
            <a:spAutoFit/>
          </a:bodyPr>
          <a:lstStyle/>
          <a:p>
            <a:pPr algn="l" indent="0" marL="0">
              <a:lnSpc>
                <a:spcPts val="1400"/>
              </a:lnSpc>
              <a:buNone/>
            </a:pPr>
            <a:r>
              <a:rPr lang="en-US" sz="780" dirty="0">
                <a:solidFill>
                  <a:srgbClr val="333333"/>
                </a:solidFill>
              </a:rPr>
              <a:t>Server-side Scripting and Business Logic</a:t>
            </a:r>
            <a:endParaRPr lang="en-US" sz="780" dirty="0"/>
          </a:p>
        </p:txBody>
      </p:sp>
      <p:sp>
        <p:nvSpPr>
          <p:cNvPr id="17" name="Text 13"/>
          <p:cNvSpPr/>
          <p:nvPr/>
        </p:nvSpPr>
        <p:spPr>
          <a:xfrm>
            <a:off x="3714750" y="2919980"/>
            <a:ext cx="1214438" cy="389334"/>
          </a:xfrm>
          <a:prstGeom prst="rect">
            <a:avLst/>
          </a:prstGeom>
          <a:noFill/>
          <a:ln/>
        </p:spPr>
        <p:txBody>
          <a:bodyPr wrap="square" lIns="0" tIns="127508" rIns="0" bIns="127508" rtlCol="0" anchor="ctr">
            <a:spAutoFit/>
          </a:bodyPr>
          <a:lstStyle/>
          <a:p>
            <a:pPr algn="l" indent="0" marL="0">
              <a:lnSpc>
                <a:spcPts val="1000"/>
              </a:lnSpc>
              <a:buNone/>
            </a:pPr>
            <a:r>
              <a:rPr lang="en-US" sz="734" b="1" dirty="0">
                <a:solidFill>
                  <a:srgbClr val="333333"/>
                </a:solidFill>
              </a:rPr>
              <a:t>Database</a:t>
            </a:r>
            <a:endParaRPr lang="en-US" sz="734" dirty="0"/>
          </a:p>
        </p:txBody>
      </p:sp>
      <p:sp>
        <p:nvSpPr>
          <p:cNvPr id="18" name="Text 14"/>
          <p:cNvSpPr/>
          <p:nvPr/>
        </p:nvSpPr>
        <p:spPr>
          <a:xfrm>
            <a:off x="4929188" y="2919980"/>
            <a:ext cx="1214438" cy="389334"/>
          </a:xfrm>
          <a:prstGeom prst="rect">
            <a:avLst/>
          </a:prstGeom>
          <a:noFill/>
          <a:ln/>
        </p:spPr>
        <p:txBody>
          <a:bodyPr wrap="square" lIns="0" tIns="127508" rIns="0" bIns="127508" rtlCol="0" anchor="ctr">
            <a:spAutoFit/>
          </a:bodyPr>
          <a:lstStyle/>
          <a:p>
            <a:pPr algn="l" indent="0" marL="0">
              <a:lnSpc>
                <a:spcPts val="1000"/>
              </a:lnSpc>
              <a:buNone/>
            </a:pPr>
            <a:r>
              <a:rPr lang="en-US" sz="734" b="1" dirty="0">
                <a:solidFill>
                  <a:srgbClr val="333333"/>
                </a:solidFill>
              </a:rPr>
              <a:t>MySQL</a:t>
            </a:r>
            <a:endParaRPr lang="en-US" sz="734" dirty="0"/>
          </a:p>
        </p:txBody>
      </p:sp>
      <p:sp>
        <p:nvSpPr>
          <p:cNvPr id="19" name="Text 15"/>
          <p:cNvSpPr/>
          <p:nvPr/>
        </p:nvSpPr>
        <p:spPr>
          <a:xfrm>
            <a:off x="6143625" y="2919980"/>
            <a:ext cx="2428875" cy="389334"/>
          </a:xfrm>
          <a:prstGeom prst="rect">
            <a:avLst/>
          </a:prstGeom>
          <a:noFill/>
          <a:ln/>
        </p:spPr>
        <p:txBody>
          <a:bodyPr wrap="square" lIns="0" tIns="127508" rIns="0" bIns="127508" rtlCol="0" anchor="ctr">
            <a:spAutoFit/>
          </a:bodyPr>
          <a:lstStyle/>
          <a:p>
            <a:pPr algn="l" indent="0" marL="0">
              <a:lnSpc>
                <a:spcPts val="1400"/>
              </a:lnSpc>
              <a:buNone/>
            </a:pPr>
            <a:r>
              <a:rPr lang="en-US" sz="780" dirty="0">
                <a:solidFill>
                  <a:srgbClr val="333333"/>
                </a:solidFill>
              </a:rPr>
              <a:t>Data Storage and Retrieval</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5000625" cy="822927"/>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1A1A1A"/>
                </a:solidFill>
              </a:rPr>
              <a:t>User Interface and </a:t>
            </a:r>
            <a:pPr algn="l" indent="0" marL="0">
              <a:lnSpc>
                <a:spcPts val="3200"/>
              </a:lnSpc>
              <a:buNone/>
            </a:pPr>
            <a:r>
              <a:rPr lang="en-US" sz="2436" b="1" dirty="0">
                <a:solidFill>
                  <a:srgbClr val="0052CC"/>
                </a:solidFill>
              </a:rPr>
              <a:t>Experience Design</a:t>
            </a:r>
            <a:endParaRPr lang="en-US" sz="2436" dirty="0"/>
          </a:p>
        </p:txBody>
      </p:sp>
      <p:sp>
        <p:nvSpPr>
          <p:cNvPr id="4" name="Text 1"/>
          <p:cNvSpPr/>
          <p:nvPr/>
        </p:nvSpPr>
        <p:spPr>
          <a:xfrm>
            <a:off x="571500" y="1430145"/>
            <a:ext cx="5000625" cy="582913"/>
          </a:xfrm>
          <a:prstGeom prst="rect">
            <a:avLst/>
          </a:prstGeom>
          <a:noFill/>
          <a:ln/>
        </p:spPr>
        <p:txBody>
          <a:bodyPr wrap="square" lIns="0" tIns="0" rIns="0" bIns="0" rtlCol="0" anchor="t">
            <a:spAutoFit/>
          </a:bodyPr>
          <a:lstStyle/>
          <a:p>
            <a:pPr algn="l" indent="0" marL="0">
              <a:lnSpc>
                <a:spcPts val="1500"/>
              </a:lnSpc>
              <a:buNone/>
            </a:pPr>
            <a:r>
              <a:rPr lang="en-US" sz="834" dirty="0">
                <a:solidFill>
                  <a:srgbClr val="333333"/>
                </a:solidFill>
              </a:rPr>
              <a:t>The UI is designed with a focus on simplicity and ease of use for both the public-facing registration pages and the administrative dashboard, ensuring that users can accomplish their goals efficiently and intuitively.</a:t>
            </a:r>
            <a:endParaRPr lang="en-US" sz="834" dirty="0"/>
          </a:p>
        </p:txBody>
      </p:sp>
      <p:sp>
        <p:nvSpPr>
          <p:cNvPr id="5" name="Text 2"/>
          <p:cNvSpPr/>
          <p:nvPr/>
        </p:nvSpPr>
        <p:spPr>
          <a:xfrm>
            <a:off x="571500" y="2227371"/>
            <a:ext cx="5000625"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333333"/>
                </a:solidFill>
              </a:rPr>
              <a:t>Key Interface Components</a:t>
            </a:r>
            <a:endParaRPr lang="en-US" sz="683" dirty="0"/>
          </a:p>
        </p:txBody>
      </p:sp>
      <p:sp>
        <p:nvSpPr>
          <p:cNvPr id="6" name="Text 3"/>
          <p:cNvSpPr/>
          <p:nvPr/>
        </p:nvSpPr>
        <p:spPr>
          <a:xfrm>
            <a:off x="571500" y="2470259"/>
            <a:ext cx="128588" cy="189309"/>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52CC"/>
                </a:solidFill>
              </a:rPr>
              <a:t>→</a:t>
            </a:r>
            <a:endParaRPr lang="en-US" sz="885" dirty="0"/>
          </a:p>
        </p:txBody>
      </p:sp>
      <p:sp>
        <p:nvSpPr>
          <p:cNvPr id="7" name="Text 4"/>
          <p:cNvSpPr/>
          <p:nvPr/>
        </p:nvSpPr>
        <p:spPr>
          <a:xfrm>
            <a:off x="714375" y="2470259"/>
            <a:ext cx="4857750"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A1A1A"/>
                </a:solidFill>
              </a:rPr>
              <a:t>Public Interface</a:t>
            </a:r>
            <a:endParaRPr lang="en-US" sz="734" dirty="0"/>
          </a:p>
        </p:txBody>
      </p:sp>
      <p:sp>
        <p:nvSpPr>
          <p:cNvPr id="8" name="Text 5"/>
          <p:cNvSpPr/>
          <p:nvPr/>
        </p:nvSpPr>
        <p:spPr>
          <a:xfrm>
            <a:off x="714375" y="2652424"/>
            <a:ext cx="4857750"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Simple forms for event registration and information viewing, designed for accessibility and ease of use.</a:t>
            </a:r>
            <a:endParaRPr lang="en-US" sz="727" dirty="0"/>
          </a:p>
        </p:txBody>
      </p:sp>
      <p:sp>
        <p:nvSpPr>
          <p:cNvPr id="9" name="Text 6"/>
          <p:cNvSpPr/>
          <p:nvPr/>
        </p:nvSpPr>
        <p:spPr>
          <a:xfrm>
            <a:off x="571500" y="2941020"/>
            <a:ext cx="128588" cy="189309"/>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52CC"/>
                </a:solidFill>
              </a:rPr>
              <a:t>→</a:t>
            </a:r>
            <a:endParaRPr lang="en-US" sz="885" dirty="0"/>
          </a:p>
        </p:txBody>
      </p:sp>
      <p:sp>
        <p:nvSpPr>
          <p:cNvPr id="10" name="Text 7"/>
          <p:cNvSpPr/>
          <p:nvPr/>
        </p:nvSpPr>
        <p:spPr>
          <a:xfrm>
            <a:off x="714375" y="2941020"/>
            <a:ext cx="4857750"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A1A1A"/>
                </a:solidFill>
              </a:rPr>
              <a:t>Admin Dashboard</a:t>
            </a:r>
            <a:endParaRPr lang="en-US" sz="734" dirty="0"/>
          </a:p>
        </p:txBody>
      </p:sp>
      <p:sp>
        <p:nvSpPr>
          <p:cNvPr id="11" name="Text 8"/>
          <p:cNvSpPr/>
          <p:nvPr/>
        </p:nvSpPr>
        <p:spPr>
          <a:xfrm>
            <a:off x="714375" y="3123186"/>
            <a:ext cx="4857750"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A secure, centralized control panel for event administrators with comprehensive management capabilities.</a:t>
            </a:r>
            <a:endParaRPr lang="en-US" sz="727" dirty="0"/>
          </a:p>
        </p:txBody>
      </p:sp>
      <p:sp>
        <p:nvSpPr>
          <p:cNvPr id="12" name="Text 9"/>
          <p:cNvSpPr/>
          <p:nvPr/>
        </p:nvSpPr>
        <p:spPr>
          <a:xfrm>
            <a:off x="571500" y="3571791"/>
            <a:ext cx="128588" cy="189309"/>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52CC"/>
                </a:solidFill>
              </a:rPr>
              <a:t>→</a:t>
            </a:r>
            <a:endParaRPr lang="en-US" sz="885" dirty="0"/>
          </a:p>
        </p:txBody>
      </p:sp>
      <p:sp>
        <p:nvSpPr>
          <p:cNvPr id="13" name="Text 10"/>
          <p:cNvSpPr/>
          <p:nvPr/>
        </p:nvSpPr>
        <p:spPr>
          <a:xfrm>
            <a:off x="714375" y="3571791"/>
            <a:ext cx="4857750"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A1A1A"/>
                </a:solidFill>
              </a:rPr>
              <a:t>Event List View</a:t>
            </a:r>
            <a:endParaRPr lang="en-US" sz="734" dirty="0"/>
          </a:p>
        </p:txBody>
      </p:sp>
      <p:sp>
        <p:nvSpPr>
          <p:cNvPr id="14" name="Text 11"/>
          <p:cNvSpPr/>
          <p:nvPr/>
        </p:nvSpPr>
        <p:spPr>
          <a:xfrm>
            <a:off x="714375" y="3753957"/>
            <a:ext cx="4857750"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Displays all events with key metrics: Title, Date, and Registration Summary (e.g., "50/100 Registered").</a:t>
            </a:r>
            <a:endParaRPr lang="en-US" sz="727" dirty="0"/>
          </a:p>
        </p:txBody>
      </p:sp>
      <p:sp>
        <p:nvSpPr>
          <p:cNvPr id="15" name="Text 12"/>
          <p:cNvSpPr/>
          <p:nvPr/>
        </p:nvSpPr>
        <p:spPr>
          <a:xfrm>
            <a:off x="571500" y="4042553"/>
            <a:ext cx="128588" cy="189309"/>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0052CC"/>
                </a:solidFill>
              </a:rPr>
              <a:t>→</a:t>
            </a:r>
            <a:endParaRPr lang="en-US" sz="885" dirty="0"/>
          </a:p>
        </p:txBody>
      </p:sp>
      <p:sp>
        <p:nvSpPr>
          <p:cNvPr id="16" name="Text 13"/>
          <p:cNvSpPr/>
          <p:nvPr/>
        </p:nvSpPr>
        <p:spPr>
          <a:xfrm>
            <a:off x="714375" y="4042553"/>
            <a:ext cx="4857750" cy="146447"/>
          </a:xfrm>
          <a:prstGeom prst="rect">
            <a:avLst/>
          </a:prstGeom>
          <a:noFill/>
          <a:ln/>
        </p:spPr>
        <p:txBody>
          <a:bodyPr wrap="none" lIns="0" tIns="0" rIns="0" bIns="0" rtlCol="0" anchor="t">
            <a:spAutoFit/>
          </a:bodyPr>
          <a:lstStyle/>
          <a:p>
            <a:pPr algn="l" indent="0" marL="0">
              <a:lnSpc>
                <a:spcPts val="1000"/>
              </a:lnSpc>
              <a:buNone/>
            </a:pPr>
            <a:r>
              <a:rPr lang="en-US" sz="734" b="1" dirty="0">
                <a:solidFill>
                  <a:srgbClr val="1A1A1A"/>
                </a:solidFill>
              </a:rPr>
              <a:t>Registration Detail View</a:t>
            </a:r>
            <a:endParaRPr lang="en-US" sz="734" dirty="0"/>
          </a:p>
        </p:txBody>
      </p:sp>
      <p:sp>
        <p:nvSpPr>
          <p:cNvPr id="17" name="Text 14"/>
          <p:cNvSpPr/>
          <p:nvPr/>
        </p:nvSpPr>
        <p:spPr>
          <a:xfrm>
            <a:off x="714375" y="4224719"/>
            <a:ext cx="4857750"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Provides a granular list of all attendees for a specific event: Name, Email, Seats, and Registration Date.</a:t>
            </a:r>
            <a:endParaRPr lang="en-US" sz="727" dirty="0"/>
          </a:p>
        </p:txBody>
      </p:sp>
      <p:pic>
        <p:nvPicPr>
          <p:cNvPr id="18" name="Image 1" descr="preencoded.png">    </p:cNvPr>
          <p:cNvPicPr>
            <a:picLocks noChangeAspect="1"/>
          </p:cNvPicPr>
          <p:nvPr/>
        </p:nvPicPr>
        <p:blipFill>
          <a:blip r:embed="rId2"/>
          <a:stretch>
            <a:fillRect/>
          </a:stretch>
        </p:blipFill>
        <p:spPr>
          <a:xfrm>
            <a:off x="5857875" y="428625"/>
            <a:ext cx="2714625" cy="18097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5000625" cy="822927"/>
          </a:xfrm>
          <a:prstGeom prst="rect">
            <a:avLst/>
          </a:prstGeom>
          <a:noFill/>
          <a:ln/>
        </p:spPr>
        <p:txBody>
          <a:bodyPr wrap="square" lIns="0" tIns="0" rIns="0" bIns="0" rtlCol="0" anchor="t">
            <a:spAutoFit/>
          </a:bodyPr>
          <a:lstStyle/>
          <a:p>
            <a:pPr algn="l" indent="0" marL="0">
              <a:lnSpc>
                <a:spcPts val="3200"/>
              </a:lnSpc>
              <a:buNone/>
            </a:pPr>
            <a:r>
              <a:rPr lang="en-US" sz="2436" b="1" dirty="0">
                <a:solidFill>
                  <a:srgbClr val="1A1A1A"/>
                </a:solidFill>
              </a:rPr>
              <a:t>Demo: </a:t>
            </a:r>
            <a:pPr algn="l" indent="0" marL="0">
              <a:lnSpc>
                <a:spcPts val="3200"/>
              </a:lnSpc>
              <a:buNone/>
            </a:pPr>
            <a:r>
              <a:rPr lang="en-US" sz="2436" b="1" dirty="0">
                <a:solidFill>
                  <a:srgbClr val="0052CC"/>
                </a:solidFill>
              </a:rPr>
              <a:t>Public Event </a:t>
            </a:r>
            <a:pPr algn="l" indent="0" marL="0">
              <a:lnSpc>
                <a:spcPts val="3200"/>
              </a:lnSpc>
              <a:buNone/>
            </a:pPr>
            <a:r>
              <a:rPr lang="en-US" sz="2436" b="1" dirty="0">
                <a:solidFill>
                  <a:srgbClr val="0052CC"/>
                </a:solidFill>
              </a:rPr>
              <a:t>Registration</a:t>
            </a:r>
            <a:pPr algn="l" indent="0" marL="0">
              <a:lnSpc>
                <a:spcPts val="3200"/>
              </a:lnSpc>
              <a:buNone/>
            </a:pPr>
            <a:r>
              <a:rPr lang="en-US" sz="2436" b="1" dirty="0">
                <a:solidFill>
                  <a:srgbClr val="1A1A1A"/>
                </a:solidFill>
              </a:rPr>
              <a:t> Interface</a:t>
            </a:r>
            <a:endParaRPr lang="en-US" sz="2436" dirty="0"/>
          </a:p>
        </p:txBody>
      </p:sp>
      <p:sp>
        <p:nvSpPr>
          <p:cNvPr id="4" name="Text 1"/>
          <p:cNvSpPr/>
          <p:nvPr/>
        </p:nvSpPr>
        <p:spPr>
          <a:xfrm>
            <a:off x="571500" y="1465864"/>
            <a:ext cx="5000625" cy="582913"/>
          </a:xfrm>
          <a:prstGeom prst="rect">
            <a:avLst/>
          </a:prstGeom>
          <a:noFill/>
          <a:ln/>
        </p:spPr>
        <p:txBody>
          <a:bodyPr wrap="square" lIns="0" tIns="0" rIns="0" bIns="0" rtlCol="0" anchor="t">
            <a:spAutoFit/>
          </a:bodyPr>
          <a:lstStyle/>
          <a:p>
            <a:pPr algn="l" indent="0" marL="0">
              <a:lnSpc>
                <a:spcPts val="1500"/>
              </a:lnSpc>
              <a:buNone/>
            </a:pPr>
            <a:r>
              <a:rPr lang="en-US" sz="834" dirty="0">
                <a:solidFill>
                  <a:srgbClr val="333333"/>
                </a:solidFill>
              </a:rPr>
              <a:t>This interface provides a user-friendly platform where potential attendees can discover and register for upcoming events. The public-facing page displays all available events with essential information and a streamlined registration process.</a:t>
            </a:r>
            <a:endParaRPr lang="en-US" sz="834" dirty="0"/>
          </a:p>
        </p:txBody>
      </p:sp>
      <p:sp>
        <p:nvSpPr>
          <p:cNvPr id="5" name="Text 2"/>
          <p:cNvSpPr/>
          <p:nvPr/>
        </p:nvSpPr>
        <p:spPr>
          <a:xfrm>
            <a:off x="571500" y="2227371"/>
            <a:ext cx="5000625" cy="385763"/>
          </a:xfrm>
          <a:prstGeom prst="rect">
            <a:avLst/>
          </a:prstGeom>
          <a:noFill/>
          <a:ln/>
        </p:spPr>
        <p:txBody>
          <a:bodyPr wrap="square" lIns="170053" tIns="0" rIns="0" bIns="0" rtlCol="0" anchor="t">
            <a:spAutoFit/>
          </a:bodyPr>
          <a:lstStyle/>
          <a:p>
            <a:pPr algn="l" indent="0" marL="0">
              <a:lnSpc>
                <a:spcPts val="1500"/>
              </a:lnSpc>
              <a:buNone/>
            </a:pPr>
            <a:r>
              <a:rPr lang="en-US" sz="734" b="1" dirty="0">
                <a:solidFill>
                  <a:srgbClr val="1A1A1A"/>
                </a:solidFill>
              </a:rPr>
              <a:t>Event Discovery:</a:t>
            </a:r>
            <a:pPr algn="l" indent="0" marL="0">
              <a:lnSpc>
                <a:spcPts val="1500"/>
              </a:lnSpc>
              <a:buNone/>
            </a:pPr>
            <a:r>
              <a:rPr lang="en-US" sz="780" dirty="0">
                <a:solidFill>
                  <a:srgbClr val="1A1A1A"/>
                </a:solidFill>
              </a:rPr>
              <a:t> Users can browse all available events with key details such as title, date, and </a:t>
            </a:r>
            <a:pPr algn="l" indent="0" marL="0">
              <a:lnSpc>
                <a:spcPts val="1500"/>
              </a:lnSpc>
              <a:buNone/>
            </a:pPr>
            <a:r>
              <a:rPr lang="en-US" sz="780" dirty="0">
                <a:solidFill>
                  <a:srgbClr val="1A1A1A"/>
                </a:solidFill>
              </a:rPr>
              <a:t>capacity information.</a:t>
            </a:r>
            <a:endParaRPr lang="en-US" sz="734" dirty="0"/>
          </a:p>
        </p:txBody>
      </p:sp>
      <p:sp>
        <p:nvSpPr>
          <p:cNvPr id="6" name="Text 3"/>
          <p:cNvSpPr/>
          <p:nvPr/>
        </p:nvSpPr>
        <p:spPr>
          <a:xfrm>
            <a:off x="571500" y="2698859"/>
            <a:ext cx="5000625" cy="385763"/>
          </a:xfrm>
          <a:prstGeom prst="rect">
            <a:avLst/>
          </a:prstGeom>
          <a:noFill/>
          <a:ln/>
        </p:spPr>
        <p:txBody>
          <a:bodyPr wrap="square" lIns="170053" tIns="0" rIns="0" bIns="0" rtlCol="0" anchor="t">
            <a:spAutoFit/>
          </a:bodyPr>
          <a:lstStyle/>
          <a:p>
            <a:pPr algn="l" indent="0" marL="0">
              <a:lnSpc>
                <a:spcPts val="1500"/>
              </a:lnSpc>
              <a:buNone/>
            </a:pPr>
            <a:r>
              <a:rPr lang="en-US" sz="734" b="1" dirty="0">
                <a:solidFill>
                  <a:srgbClr val="1A1A1A"/>
                </a:solidFill>
              </a:rPr>
              <a:t>Simple Registration:</a:t>
            </a:r>
            <a:pPr algn="l" indent="0" marL="0">
              <a:lnSpc>
                <a:spcPts val="1500"/>
              </a:lnSpc>
              <a:buNone/>
            </a:pPr>
            <a:r>
              <a:rPr lang="en-US" sz="780" dirty="0">
                <a:solidFill>
                  <a:srgbClr val="1A1A1A"/>
                </a:solidFill>
              </a:rPr>
              <a:t> A straightforward form allows users to register for events with minimal </a:t>
            </a:r>
            <a:pPr algn="l" indent="0" marL="0">
              <a:lnSpc>
                <a:spcPts val="1500"/>
              </a:lnSpc>
              <a:buNone/>
            </a:pPr>
            <a:r>
              <a:rPr lang="en-US" sz="780" dirty="0">
                <a:solidFill>
                  <a:srgbClr val="1A1A1A"/>
                </a:solidFill>
              </a:rPr>
              <a:t>required information.</a:t>
            </a:r>
            <a:endParaRPr lang="en-US" sz="734" dirty="0"/>
          </a:p>
        </p:txBody>
      </p:sp>
      <p:sp>
        <p:nvSpPr>
          <p:cNvPr id="7" name="Text 4"/>
          <p:cNvSpPr/>
          <p:nvPr/>
        </p:nvSpPr>
        <p:spPr>
          <a:xfrm>
            <a:off x="571500" y="3170346"/>
            <a:ext cx="5000625" cy="385763"/>
          </a:xfrm>
          <a:prstGeom prst="rect">
            <a:avLst/>
          </a:prstGeom>
          <a:noFill/>
          <a:ln/>
        </p:spPr>
        <p:txBody>
          <a:bodyPr wrap="square" lIns="170053" tIns="0" rIns="0" bIns="0" rtlCol="0" anchor="t">
            <a:spAutoFit/>
          </a:bodyPr>
          <a:lstStyle/>
          <a:p>
            <a:pPr algn="l" indent="0" marL="0">
              <a:lnSpc>
                <a:spcPts val="1500"/>
              </a:lnSpc>
              <a:buNone/>
            </a:pPr>
            <a:r>
              <a:rPr lang="en-US" sz="734" b="1" dirty="0">
                <a:solidFill>
                  <a:srgbClr val="1A1A1A"/>
                </a:solidFill>
              </a:rPr>
              <a:t>Real-time Availability:</a:t>
            </a:r>
            <a:pPr algn="l" indent="0" marL="0">
              <a:lnSpc>
                <a:spcPts val="1500"/>
              </a:lnSpc>
              <a:buNone/>
            </a:pPr>
            <a:r>
              <a:rPr lang="en-US" sz="780" dirty="0">
                <a:solidFill>
                  <a:srgbClr val="1A1A1A"/>
                </a:solidFill>
              </a:rPr>
              <a:t> The system displays current registration status, helping users </a:t>
            </a:r>
            <a:pPr algn="l" indent="0" marL="0">
              <a:lnSpc>
                <a:spcPts val="1500"/>
              </a:lnSpc>
              <a:buNone/>
            </a:pPr>
            <a:r>
              <a:rPr lang="en-US" sz="780" dirty="0">
                <a:solidFill>
                  <a:srgbClr val="1A1A1A"/>
                </a:solidFill>
              </a:rPr>
              <a:t>understand event capacity and availability.</a:t>
            </a:r>
            <a:endParaRPr lang="en-US" sz="734" dirty="0"/>
          </a:p>
        </p:txBody>
      </p:sp>
      <p:sp>
        <p:nvSpPr>
          <p:cNvPr id="8" name="Text 5"/>
          <p:cNvSpPr/>
          <p:nvPr/>
        </p:nvSpPr>
        <p:spPr>
          <a:xfrm>
            <a:off x="571500" y="3641834"/>
            <a:ext cx="5000625" cy="385763"/>
          </a:xfrm>
          <a:prstGeom prst="rect">
            <a:avLst/>
          </a:prstGeom>
          <a:noFill/>
          <a:ln/>
        </p:spPr>
        <p:txBody>
          <a:bodyPr wrap="square" lIns="170053" tIns="0" rIns="0" bIns="0" rtlCol="0" anchor="t">
            <a:spAutoFit/>
          </a:bodyPr>
          <a:lstStyle/>
          <a:p>
            <a:pPr algn="l" indent="0" marL="0">
              <a:lnSpc>
                <a:spcPts val="1500"/>
              </a:lnSpc>
              <a:buNone/>
            </a:pPr>
            <a:r>
              <a:rPr lang="en-US" sz="734" b="1" dirty="0">
                <a:solidFill>
                  <a:srgbClr val="1A1A1A"/>
                </a:solidFill>
              </a:rPr>
              <a:t>Confirmation:</a:t>
            </a:r>
            <a:pPr algn="l" indent="0" marL="0">
              <a:lnSpc>
                <a:spcPts val="1500"/>
              </a:lnSpc>
              <a:buNone/>
            </a:pPr>
            <a:r>
              <a:rPr lang="en-US" sz="780" dirty="0">
                <a:solidFill>
                  <a:srgbClr val="1A1A1A"/>
                </a:solidFill>
              </a:rPr>
              <a:t> Users receive immediate feedback upon successful registration, with </a:t>
            </a:r>
            <a:pPr algn="l" indent="0" marL="0">
              <a:lnSpc>
                <a:spcPts val="1500"/>
              </a:lnSpc>
              <a:buNone/>
            </a:pPr>
            <a:r>
              <a:rPr lang="en-US" sz="780" dirty="0">
                <a:solidFill>
                  <a:srgbClr val="1A1A1A"/>
                </a:solidFill>
              </a:rPr>
              <a:t>confirmation details.</a:t>
            </a:r>
            <a:endParaRPr lang="en-US" sz="734" dirty="0"/>
          </a:p>
        </p:txBody>
      </p:sp>
      <p:sp>
        <p:nvSpPr>
          <p:cNvPr id="9" name="Text 6"/>
          <p:cNvSpPr/>
          <p:nvPr/>
        </p:nvSpPr>
        <p:spPr>
          <a:xfrm>
            <a:off x="571500" y="2227371"/>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10" name="Text 7"/>
          <p:cNvSpPr/>
          <p:nvPr/>
        </p:nvSpPr>
        <p:spPr>
          <a:xfrm>
            <a:off x="571500" y="2698859"/>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11" name="Text 8"/>
          <p:cNvSpPr/>
          <p:nvPr/>
        </p:nvSpPr>
        <p:spPr>
          <a:xfrm>
            <a:off x="571500" y="3170346"/>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sp>
        <p:nvSpPr>
          <p:cNvPr id="12" name="Text 9"/>
          <p:cNvSpPr/>
          <p:nvPr/>
        </p:nvSpPr>
        <p:spPr>
          <a:xfrm>
            <a:off x="571500" y="3641834"/>
            <a:ext cx="53746" cy="257175"/>
          </a:xfrm>
          <a:prstGeom prst="rect">
            <a:avLst/>
          </a:prstGeom>
          <a:noFill/>
          <a:ln/>
        </p:spPr>
        <p:txBody>
          <a:bodyPr wrap="none" lIns="0" tIns="0" rIns="0" bIns="0" rtlCol="0" anchor="t">
            <a:spAutoFit/>
          </a:bodyPr>
          <a:lstStyle/>
          <a:p>
            <a:pPr algn="l" indent="0" marL="0">
              <a:lnSpc>
                <a:spcPts val="2000"/>
              </a:lnSpc>
              <a:buNone/>
            </a:pPr>
            <a:r>
              <a:rPr lang="en-US" sz="987" b="1" dirty="0">
                <a:solidFill>
                  <a:srgbClr val="0052CC"/>
                </a:solidFill>
              </a:rPr>
              <a:t>•</a:t>
            </a:r>
            <a:endParaRPr lang="en-US" sz="987" dirty="0"/>
          </a:p>
        </p:txBody>
      </p:sp>
      <p:pic>
        <p:nvPicPr>
          <p:cNvPr id="13" name="Image 1" descr="preencoded.png">    </p:cNvPr>
          <p:cNvPicPr>
            <a:picLocks noChangeAspect="1"/>
          </p:cNvPicPr>
          <p:nvPr/>
        </p:nvPicPr>
        <p:blipFill>
          <a:blip r:embed="rId2"/>
          <a:stretch>
            <a:fillRect/>
          </a:stretch>
        </p:blipFill>
        <p:spPr>
          <a:xfrm>
            <a:off x="3011641" y="466365"/>
            <a:ext cx="5715000" cy="3571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4895"/>
          </a:xfrm>
          <a:prstGeom prst="rect">
            <a:avLst/>
          </a:prstGeom>
        </p:spPr>
      </p:pic>
      <p:sp>
        <p:nvSpPr>
          <p:cNvPr id="3" name="Text 0"/>
          <p:cNvSpPr/>
          <p:nvPr/>
        </p:nvSpPr>
        <p:spPr>
          <a:xfrm>
            <a:off x="571500" y="428625"/>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rPr>
              <a:t>Demo: </a:t>
            </a:r>
            <a:pPr algn="l" indent="0" marL="0">
              <a:lnSpc>
                <a:spcPts val="3200"/>
              </a:lnSpc>
              <a:buNone/>
            </a:pPr>
            <a:r>
              <a:rPr lang="en-US" sz="2436" b="1" dirty="0">
                <a:solidFill>
                  <a:srgbClr val="0052CC"/>
                </a:solidFill>
              </a:rPr>
              <a:t>User Authentication</a:t>
            </a:r>
            <a:pPr algn="l" indent="0" marL="0">
              <a:lnSpc>
                <a:spcPts val="3200"/>
              </a:lnSpc>
              <a:buNone/>
            </a:pPr>
            <a:r>
              <a:rPr lang="en-US" sz="2436" b="1" dirty="0">
                <a:solidFill>
                  <a:srgbClr val="1A1A1A"/>
                </a:solidFill>
              </a:rPr>
              <a:t> and Login</a:t>
            </a:r>
            <a:endParaRPr lang="en-US" sz="2436" dirty="0"/>
          </a:p>
        </p:txBody>
      </p:sp>
      <p:sp>
        <p:nvSpPr>
          <p:cNvPr id="4" name="Text 1"/>
          <p:cNvSpPr/>
          <p:nvPr/>
        </p:nvSpPr>
        <p:spPr>
          <a:xfrm>
            <a:off x="571500" y="947245"/>
            <a:ext cx="6429375" cy="582913"/>
          </a:xfrm>
          <a:prstGeom prst="rect">
            <a:avLst/>
          </a:prstGeom>
          <a:noFill/>
          <a:ln/>
        </p:spPr>
        <p:txBody>
          <a:bodyPr wrap="square" lIns="0" tIns="0" rIns="0" bIns="0" rtlCol="0" anchor="t">
            <a:spAutoFit/>
          </a:bodyPr>
          <a:lstStyle/>
          <a:p>
            <a:pPr algn="l" indent="0" marL="0">
              <a:lnSpc>
                <a:spcPts val="1500"/>
              </a:lnSpc>
              <a:buNone/>
            </a:pPr>
            <a:r>
              <a:rPr lang="en-US" sz="834" dirty="0">
                <a:solidFill>
                  <a:srgbClr val="333333"/>
                </a:solidFill>
              </a:rPr>
              <a:t>This demonstrates the secure login form interface used by administrators and registered users to access the system. The authentication system ensures that only authorized users can access their respective dashboards and manage events or registrations.</a:t>
            </a:r>
            <a:endParaRPr lang="en-US" sz="834" dirty="0"/>
          </a:p>
        </p:txBody>
      </p:sp>
      <p:pic>
        <p:nvPicPr>
          <p:cNvPr id="5" name="Image 1" descr="preencoded.png">    </p:cNvPr>
          <p:cNvPicPr>
            <a:picLocks noChangeAspect="1"/>
          </p:cNvPicPr>
          <p:nvPr/>
        </p:nvPicPr>
        <p:blipFill>
          <a:blip r:embed="rId2"/>
          <a:stretch>
            <a:fillRect/>
          </a:stretch>
        </p:blipFill>
        <p:spPr>
          <a:xfrm>
            <a:off x="2286000" y="1958783"/>
            <a:ext cx="4572000" cy="2857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rPr>
              <a:t>Demo: Admin Dashboard - </a:t>
            </a:r>
            <a:pPr algn="l" indent="0" marL="0">
              <a:lnSpc>
                <a:spcPts val="3200"/>
              </a:lnSpc>
              <a:buNone/>
            </a:pPr>
            <a:r>
              <a:rPr lang="en-US" sz="2436" b="1" dirty="0">
                <a:solidFill>
                  <a:srgbClr val="0052CC"/>
                </a:solidFill>
              </a:rPr>
              <a:t>Event List</a:t>
            </a:r>
            <a:endParaRPr lang="en-US" sz="2436" dirty="0"/>
          </a:p>
        </p:txBody>
      </p:sp>
      <p:sp>
        <p:nvSpPr>
          <p:cNvPr id="4" name="Text 1"/>
          <p:cNvSpPr/>
          <p:nvPr/>
        </p:nvSpPr>
        <p:spPr>
          <a:xfrm>
            <a:off x="571500" y="911526"/>
            <a:ext cx="8001000" cy="182863"/>
          </a:xfrm>
          <a:prstGeom prst="rect">
            <a:avLst/>
          </a:prstGeom>
          <a:noFill/>
          <a:ln/>
        </p:spPr>
        <p:txBody>
          <a:bodyPr wrap="none" lIns="0" tIns="0" rIns="0" bIns="0" rtlCol="0" anchor="t">
            <a:spAutoFit/>
          </a:bodyPr>
          <a:lstStyle/>
          <a:p>
            <a:pPr algn="l" indent="0" marL="0">
              <a:lnSpc>
                <a:spcPts val="1400"/>
              </a:lnSpc>
              <a:buNone/>
            </a:pPr>
            <a:r>
              <a:rPr lang="en-US" sz="834" dirty="0">
                <a:solidFill>
                  <a:srgbClr val="333333"/>
                </a:solidFill>
              </a:rPr>
              <a:t>Main administrative view showing all events with registration summaries and management options</a:t>
            </a:r>
            <a:endParaRPr lang="en-US" sz="834" dirty="0"/>
          </a:p>
        </p:txBody>
      </p:sp>
      <p:sp>
        <p:nvSpPr>
          <p:cNvPr id="5" name="Shape 2"/>
          <p:cNvSpPr/>
          <p:nvPr/>
        </p:nvSpPr>
        <p:spPr>
          <a:xfrm>
            <a:off x="571500" y="1451577"/>
            <a:ext cx="8001000" cy="357188"/>
          </a:xfrm>
          <a:prstGeom prst="rect">
            <a:avLst/>
          </a:prstGeom>
          <a:solidFill>
            <a:srgbClr val="F2F2F2"/>
          </a:solidFill>
          <a:ln/>
        </p:spPr>
      </p:sp>
      <p:sp>
        <p:nvSpPr>
          <p:cNvPr id="6" name="Shape 3"/>
          <p:cNvSpPr/>
          <p:nvPr/>
        </p:nvSpPr>
        <p:spPr>
          <a:xfrm>
            <a:off x="571500" y="1794477"/>
            <a:ext cx="8001000" cy="14288"/>
          </a:xfrm>
          <a:prstGeom prst="rect">
            <a:avLst/>
          </a:prstGeom>
          <a:solidFill>
            <a:srgbClr val="333333"/>
          </a:solidFill>
          <a:ln/>
        </p:spPr>
      </p:sp>
      <p:sp>
        <p:nvSpPr>
          <p:cNvPr id="7" name="Text 4"/>
          <p:cNvSpPr/>
          <p:nvPr/>
        </p:nvSpPr>
        <p:spPr>
          <a:xfrm>
            <a:off x="571500" y="1451577"/>
            <a:ext cx="2400300" cy="350044"/>
          </a:xfrm>
          <a:prstGeom prst="rect">
            <a:avLst/>
          </a:prstGeom>
          <a:noFill/>
          <a:ln/>
        </p:spPr>
        <p:txBody>
          <a:bodyPr wrap="square" lIns="102108" tIns="127508" rIns="102108" bIns="127508" rtlCol="0" anchor="ctr">
            <a:spAutoFit/>
          </a:bodyPr>
          <a:lstStyle/>
          <a:p>
            <a:pPr algn="l" indent="0" marL="0">
              <a:lnSpc>
                <a:spcPts val="900"/>
              </a:lnSpc>
              <a:buNone/>
            </a:pPr>
            <a:r>
              <a:rPr lang="en-US" sz="683" b="1" dirty="0">
                <a:solidFill>
                  <a:srgbClr val="1A1A1A"/>
                </a:solidFill>
              </a:rPr>
              <a:t>Title</a:t>
            </a:r>
            <a:endParaRPr lang="en-US" sz="683" dirty="0"/>
          </a:p>
        </p:txBody>
      </p:sp>
      <p:sp>
        <p:nvSpPr>
          <p:cNvPr id="8" name="Text 5"/>
          <p:cNvSpPr/>
          <p:nvPr/>
        </p:nvSpPr>
        <p:spPr>
          <a:xfrm>
            <a:off x="2971800" y="1451577"/>
            <a:ext cx="1600200" cy="350044"/>
          </a:xfrm>
          <a:prstGeom prst="rect">
            <a:avLst/>
          </a:prstGeom>
          <a:noFill/>
          <a:ln/>
        </p:spPr>
        <p:txBody>
          <a:bodyPr wrap="square" lIns="102108" tIns="127508" rIns="102108" bIns="127508" rtlCol="0" anchor="ctr">
            <a:spAutoFit/>
          </a:bodyPr>
          <a:lstStyle/>
          <a:p>
            <a:pPr algn="l" indent="0" marL="0">
              <a:lnSpc>
                <a:spcPts val="900"/>
              </a:lnSpc>
              <a:buNone/>
            </a:pPr>
            <a:r>
              <a:rPr lang="en-US" sz="683" b="1" dirty="0">
                <a:solidFill>
                  <a:srgbClr val="1A1A1A"/>
                </a:solidFill>
              </a:rPr>
              <a:t>Date</a:t>
            </a:r>
            <a:endParaRPr lang="en-US" sz="683" dirty="0"/>
          </a:p>
        </p:txBody>
      </p:sp>
      <p:sp>
        <p:nvSpPr>
          <p:cNvPr id="9" name="Text 6"/>
          <p:cNvSpPr/>
          <p:nvPr/>
        </p:nvSpPr>
        <p:spPr>
          <a:xfrm>
            <a:off x="4572000" y="1451577"/>
            <a:ext cx="2400300" cy="350044"/>
          </a:xfrm>
          <a:prstGeom prst="rect">
            <a:avLst/>
          </a:prstGeom>
          <a:noFill/>
          <a:ln/>
        </p:spPr>
        <p:txBody>
          <a:bodyPr wrap="square" lIns="102108" tIns="127508" rIns="102108" bIns="127508" rtlCol="0" anchor="ctr">
            <a:spAutoFit/>
          </a:bodyPr>
          <a:lstStyle/>
          <a:p>
            <a:pPr algn="l" indent="0" marL="0">
              <a:lnSpc>
                <a:spcPts val="900"/>
              </a:lnSpc>
              <a:buNone/>
            </a:pPr>
            <a:r>
              <a:rPr lang="en-US" sz="683" b="1" dirty="0">
                <a:solidFill>
                  <a:srgbClr val="1A1A1A"/>
                </a:solidFill>
              </a:rPr>
              <a:t>Registration Summary</a:t>
            </a:r>
            <a:endParaRPr lang="en-US" sz="683" dirty="0"/>
          </a:p>
        </p:txBody>
      </p:sp>
      <p:sp>
        <p:nvSpPr>
          <p:cNvPr id="10" name="Text 7"/>
          <p:cNvSpPr/>
          <p:nvPr/>
        </p:nvSpPr>
        <p:spPr>
          <a:xfrm>
            <a:off x="6972300" y="1451577"/>
            <a:ext cx="1600200" cy="350044"/>
          </a:xfrm>
          <a:prstGeom prst="rect">
            <a:avLst/>
          </a:prstGeom>
          <a:noFill/>
          <a:ln/>
        </p:spPr>
        <p:txBody>
          <a:bodyPr wrap="square" lIns="102108" tIns="127508" rIns="102108" bIns="127508" rtlCol="0" anchor="ctr">
            <a:spAutoFit/>
          </a:bodyPr>
          <a:lstStyle/>
          <a:p>
            <a:pPr algn="l" indent="0" marL="0">
              <a:lnSpc>
                <a:spcPts val="900"/>
              </a:lnSpc>
              <a:buNone/>
            </a:pPr>
            <a:r>
              <a:rPr lang="en-US" sz="683" b="1" dirty="0">
                <a:solidFill>
                  <a:srgbClr val="1A1A1A"/>
                </a:solidFill>
              </a:rPr>
              <a:t>Actions</a:t>
            </a:r>
            <a:endParaRPr lang="en-US" sz="683" dirty="0"/>
          </a:p>
        </p:txBody>
      </p:sp>
      <p:sp>
        <p:nvSpPr>
          <p:cNvPr id="11" name="Text 8"/>
          <p:cNvSpPr/>
          <p:nvPr/>
        </p:nvSpPr>
        <p:spPr>
          <a:xfrm>
            <a:off x="571500" y="1801620"/>
            <a:ext cx="2400300" cy="416123"/>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Web Development Workshop</a:t>
            </a:r>
            <a:endParaRPr lang="en-US" sz="683" dirty="0"/>
          </a:p>
        </p:txBody>
      </p:sp>
      <p:sp>
        <p:nvSpPr>
          <p:cNvPr id="12" name="Text 9"/>
          <p:cNvSpPr/>
          <p:nvPr/>
        </p:nvSpPr>
        <p:spPr>
          <a:xfrm>
            <a:off x="2971800" y="1801620"/>
            <a:ext cx="1600200" cy="416123"/>
          </a:xfrm>
          <a:prstGeom prst="rect">
            <a:avLst/>
          </a:prstGeom>
          <a:noFill/>
          <a:ln/>
        </p:spPr>
        <p:txBody>
          <a:bodyPr wrap="square" lIns="102108" tIns="102108" rIns="102108" bIns="102108" rtlCol="0" anchor="ctr">
            <a:spAutoFit/>
          </a:bodyPr>
          <a:lstStyle/>
          <a:p>
            <a:pPr algn="l" indent="0" marL="0">
              <a:lnSpc>
                <a:spcPts val="900"/>
              </a:lnSpc>
              <a:buNone/>
            </a:pPr>
            <a:r>
              <a:rPr lang="en-US" sz="727" dirty="0">
                <a:solidFill>
                  <a:srgbClr val="333333"/>
                </a:solidFill>
              </a:rPr>
              <a:t>2024-12-15</a:t>
            </a:r>
            <a:endParaRPr lang="en-US" sz="727" dirty="0"/>
          </a:p>
        </p:txBody>
      </p:sp>
      <p:sp>
        <p:nvSpPr>
          <p:cNvPr id="13" name="Text 10"/>
          <p:cNvSpPr/>
          <p:nvPr/>
        </p:nvSpPr>
        <p:spPr>
          <a:xfrm>
            <a:off x="4572000" y="1801620"/>
            <a:ext cx="2400300" cy="416123"/>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45 registered / 100 capacity</a:t>
            </a:r>
            <a:endParaRPr lang="en-US" sz="683" dirty="0"/>
          </a:p>
        </p:txBody>
      </p:sp>
      <p:sp>
        <p:nvSpPr>
          <p:cNvPr id="14" name="Shape 11"/>
          <p:cNvSpPr/>
          <p:nvPr/>
        </p:nvSpPr>
        <p:spPr>
          <a:xfrm>
            <a:off x="7058025" y="1887345"/>
            <a:ext cx="1069163" cy="241102"/>
          </a:xfrm>
          <a:prstGeom prst="rect">
            <a:avLst/>
          </a:prstGeom>
          <a:solidFill>
            <a:srgbClr val="0052CC"/>
          </a:solidFill>
          <a:ln/>
        </p:spPr>
      </p:sp>
      <p:sp>
        <p:nvSpPr>
          <p:cNvPr id="15" name="Text 12"/>
          <p:cNvSpPr/>
          <p:nvPr/>
        </p:nvSpPr>
        <p:spPr>
          <a:xfrm>
            <a:off x="7058025" y="1887345"/>
            <a:ext cx="1069163" cy="241102"/>
          </a:xfrm>
          <a:prstGeom prst="rect">
            <a:avLst/>
          </a:prstGeom>
          <a:noFill/>
          <a:ln/>
        </p:spPr>
        <p:txBody>
          <a:bodyPr wrap="square" lIns="136017" tIns="68072" rIns="136017" bIns="68072" rtlCol="0" anchor="t">
            <a:spAutoFit/>
          </a:bodyPr>
          <a:lstStyle/>
          <a:p>
            <a:pPr algn="ctr" indent="0" marL="0">
              <a:lnSpc>
                <a:spcPts val="900"/>
              </a:lnSpc>
              <a:buNone/>
            </a:pPr>
            <a:r>
              <a:rPr lang="en-US" sz="634" b="1" dirty="0">
                <a:solidFill>
                  <a:srgbClr val="FFFFFF"/>
                </a:solidFill>
              </a:rPr>
              <a:t>View Registrations</a:t>
            </a:r>
            <a:endParaRPr lang="en-US" sz="634" dirty="0"/>
          </a:p>
        </p:txBody>
      </p:sp>
      <p:sp>
        <p:nvSpPr>
          <p:cNvPr id="16" name="Text 13"/>
          <p:cNvSpPr/>
          <p:nvPr/>
        </p:nvSpPr>
        <p:spPr>
          <a:xfrm>
            <a:off x="571500" y="2217744"/>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AI &amp; Machine Learning Seminar</a:t>
            </a:r>
            <a:endParaRPr lang="en-US" sz="683" dirty="0"/>
          </a:p>
        </p:txBody>
      </p:sp>
      <p:sp>
        <p:nvSpPr>
          <p:cNvPr id="17" name="Text 14"/>
          <p:cNvSpPr/>
          <p:nvPr/>
        </p:nvSpPr>
        <p:spPr>
          <a:xfrm>
            <a:off x="2971800" y="2217744"/>
            <a:ext cx="1600200" cy="419695"/>
          </a:xfrm>
          <a:prstGeom prst="rect">
            <a:avLst/>
          </a:prstGeom>
          <a:noFill/>
          <a:ln/>
        </p:spPr>
        <p:txBody>
          <a:bodyPr wrap="square" lIns="102108" tIns="102108" rIns="102108" bIns="102108" rtlCol="0" anchor="ctr">
            <a:spAutoFit/>
          </a:bodyPr>
          <a:lstStyle/>
          <a:p>
            <a:pPr algn="l" indent="0" marL="0">
              <a:lnSpc>
                <a:spcPts val="900"/>
              </a:lnSpc>
              <a:buNone/>
            </a:pPr>
            <a:r>
              <a:rPr lang="en-US" sz="727" dirty="0">
                <a:solidFill>
                  <a:srgbClr val="333333"/>
                </a:solidFill>
              </a:rPr>
              <a:t>2024-12-20</a:t>
            </a:r>
            <a:endParaRPr lang="en-US" sz="727" dirty="0"/>
          </a:p>
        </p:txBody>
      </p:sp>
      <p:sp>
        <p:nvSpPr>
          <p:cNvPr id="18" name="Text 15"/>
          <p:cNvSpPr/>
          <p:nvPr/>
        </p:nvSpPr>
        <p:spPr>
          <a:xfrm>
            <a:off x="4572000" y="2217744"/>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78 registered / 150 capacity</a:t>
            </a:r>
            <a:endParaRPr lang="en-US" sz="683" dirty="0"/>
          </a:p>
        </p:txBody>
      </p:sp>
      <p:sp>
        <p:nvSpPr>
          <p:cNvPr id="19" name="Shape 16"/>
          <p:cNvSpPr/>
          <p:nvPr/>
        </p:nvSpPr>
        <p:spPr>
          <a:xfrm>
            <a:off x="7058025" y="2307041"/>
            <a:ext cx="1069163" cy="241102"/>
          </a:xfrm>
          <a:prstGeom prst="rect">
            <a:avLst/>
          </a:prstGeom>
          <a:solidFill>
            <a:srgbClr val="0052CC"/>
          </a:solidFill>
          <a:ln/>
        </p:spPr>
      </p:sp>
      <p:sp>
        <p:nvSpPr>
          <p:cNvPr id="20" name="Text 17"/>
          <p:cNvSpPr/>
          <p:nvPr/>
        </p:nvSpPr>
        <p:spPr>
          <a:xfrm>
            <a:off x="7058025" y="2307041"/>
            <a:ext cx="1069163" cy="241102"/>
          </a:xfrm>
          <a:prstGeom prst="rect">
            <a:avLst/>
          </a:prstGeom>
          <a:noFill/>
          <a:ln/>
        </p:spPr>
        <p:txBody>
          <a:bodyPr wrap="square" lIns="136017" tIns="68072" rIns="136017" bIns="68072" rtlCol="0" anchor="t">
            <a:spAutoFit/>
          </a:bodyPr>
          <a:lstStyle/>
          <a:p>
            <a:pPr algn="ctr" indent="0" marL="0">
              <a:lnSpc>
                <a:spcPts val="900"/>
              </a:lnSpc>
              <a:buNone/>
            </a:pPr>
            <a:r>
              <a:rPr lang="en-US" sz="634" b="1" dirty="0">
                <a:solidFill>
                  <a:srgbClr val="FFFFFF"/>
                </a:solidFill>
              </a:rPr>
              <a:t>View Registrations</a:t>
            </a:r>
            <a:endParaRPr lang="en-US" sz="634" dirty="0"/>
          </a:p>
        </p:txBody>
      </p:sp>
      <p:sp>
        <p:nvSpPr>
          <p:cNvPr id="21" name="Text 18"/>
          <p:cNvSpPr/>
          <p:nvPr/>
        </p:nvSpPr>
        <p:spPr>
          <a:xfrm>
            <a:off x="571500" y="2637439"/>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Cloud Computing Conference</a:t>
            </a:r>
            <a:endParaRPr lang="en-US" sz="683" dirty="0"/>
          </a:p>
        </p:txBody>
      </p:sp>
      <p:sp>
        <p:nvSpPr>
          <p:cNvPr id="22" name="Text 19"/>
          <p:cNvSpPr/>
          <p:nvPr/>
        </p:nvSpPr>
        <p:spPr>
          <a:xfrm>
            <a:off x="2971800" y="2637439"/>
            <a:ext cx="1600200" cy="419695"/>
          </a:xfrm>
          <a:prstGeom prst="rect">
            <a:avLst/>
          </a:prstGeom>
          <a:noFill/>
          <a:ln/>
        </p:spPr>
        <p:txBody>
          <a:bodyPr wrap="square" lIns="102108" tIns="102108" rIns="102108" bIns="102108" rtlCol="0" anchor="ctr">
            <a:spAutoFit/>
          </a:bodyPr>
          <a:lstStyle/>
          <a:p>
            <a:pPr algn="l" indent="0" marL="0">
              <a:lnSpc>
                <a:spcPts val="900"/>
              </a:lnSpc>
              <a:buNone/>
            </a:pPr>
            <a:r>
              <a:rPr lang="en-US" sz="727" dirty="0">
                <a:solidFill>
                  <a:srgbClr val="333333"/>
                </a:solidFill>
              </a:rPr>
              <a:t>2025-01-10</a:t>
            </a:r>
            <a:endParaRPr lang="en-US" sz="727" dirty="0"/>
          </a:p>
        </p:txBody>
      </p:sp>
      <p:sp>
        <p:nvSpPr>
          <p:cNvPr id="23" name="Text 20"/>
          <p:cNvSpPr/>
          <p:nvPr/>
        </p:nvSpPr>
        <p:spPr>
          <a:xfrm>
            <a:off x="4572000" y="2637439"/>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120 registered / 200 capacity</a:t>
            </a:r>
            <a:endParaRPr lang="en-US" sz="683" dirty="0"/>
          </a:p>
        </p:txBody>
      </p:sp>
      <p:sp>
        <p:nvSpPr>
          <p:cNvPr id="24" name="Shape 21"/>
          <p:cNvSpPr/>
          <p:nvPr/>
        </p:nvSpPr>
        <p:spPr>
          <a:xfrm>
            <a:off x="7058025" y="2726736"/>
            <a:ext cx="1069163" cy="241102"/>
          </a:xfrm>
          <a:prstGeom prst="rect">
            <a:avLst/>
          </a:prstGeom>
          <a:solidFill>
            <a:srgbClr val="0052CC"/>
          </a:solidFill>
          <a:ln/>
        </p:spPr>
      </p:sp>
      <p:sp>
        <p:nvSpPr>
          <p:cNvPr id="25" name="Text 22"/>
          <p:cNvSpPr/>
          <p:nvPr/>
        </p:nvSpPr>
        <p:spPr>
          <a:xfrm>
            <a:off x="7058025" y="2726736"/>
            <a:ext cx="1069163" cy="241102"/>
          </a:xfrm>
          <a:prstGeom prst="rect">
            <a:avLst/>
          </a:prstGeom>
          <a:noFill/>
          <a:ln/>
        </p:spPr>
        <p:txBody>
          <a:bodyPr wrap="square" lIns="136017" tIns="68072" rIns="136017" bIns="68072" rtlCol="0" anchor="t">
            <a:spAutoFit/>
          </a:bodyPr>
          <a:lstStyle/>
          <a:p>
            <a:pPr algn="ctr" indent="0" marL="0">
              <a:lnSpc>
                <a:spcPts val="900"/>
              </a:lnSpc>
              <a:buNone/>
            </a:pPr>
            <a:r>
              <a:rPr lang="en-US" sz="634" b="1" dirty="0">
                <a:solidFill>
                  <a:srgbClr val="FFFFFF"/>
                </a:solidFill>
              </a:rPr>
              <a:t>View Registrations</a:t>
            </a:r>
            <a:endParaRPr lang="en-US" sz="634" dirty="0"/>
          </a:p>
        </p:txBody>
      </p:sp>
      <p:sp>
        <p:nvSpPr>
          <p:cNvPr id="26" name="Text 23"/>
          <p:cNvSpPr/>
          <p:nvPr/>
        </p:nvSpPr>
        <p:spPr>
          <a:xfrm>
            <a:off x="571500" y="3057134"/>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Cybersecurity Training</a:t>
            </a:r>
            <a:endParaRPr lang="en-US" sz="683" dirty="0"/>
          </a:p>
        </p:txBody>
      </p:sp>
      <p:sp>
        <p:nvSpPr>
          <p:cNvPr id="27" name="Text 24"/>
          <p:cNvSpPr/>
          <p:nvPr/>
        </p:nvSpPr>
        <p:spPr>
          <a:xfrm>
            <a:off x="2971800" y="3057134"/>
            <a:ext cx="1600200" cy="419695"/>
          </a:xfrm>
          <a:prstGeom prst="rect">
            <a:avLst/>
          </a:prstGeom>
          <a:noFill/>
          <a:ln/>
        </p:spPr>
        <p:txBody>
          <a:bodyPr wrap="square" lIns="102108" tIns="102108" rIns="102108" bIns="102108" rtlCol="0" anchor="ctr">
            <a:spAutoFit/>
          </a:bodyPr>
          <a:lstStyle/>
          <a:p>
            <a:pPr algn="l" indent="0" marL="0">
              <a:lnSpc>
                <a:spcPts val="900"/>
              </a:lnSpc>
              <a:buNone/>
            </a:pPr>
            <a:r>
              <a:rPr lang="en-US" sz="727" dirty="0">
                <a:solidFill>
                  <a:srgbClr val="333333"/>
                </a:solidFill>
              </a:rPr>
              <a:t>2025-01-18</a:t>
            </a:r>
            <a:endParaRPr lang="en-US" sz="727" dirty="0"/>
          </a:p>
        </p:txBody>
      </p:sp>
      <p:sp>
        <p:nvSpPr>
          <p:cNvPr id="28" name="Text 25"/>
          <p:cNvSpPr/>
          <p:nvPr/>
        </p:nvSpPr>
        <p:spPr>
          <a:xfrm>
            <a:off x="4572000" y="3057134"/>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32 registered / 60 capacity</a:t>
            </a:r>
            <a:endParaRPr lang="en-US" sz="683" dirty="0"/>
          </a:p>
        </p:txBody>
      </p:sp>
      <p:sp>
        <p:nvSpPr>
          <p:cNvPr id="29" name="Shape 26"/>
          <p:cNvSpPr/>
          <p:nvPr/>
        </p:nvSpPr>
        <p:spPr>
          <a:xfrm>
            <a:off x="7058025" y="3146431"/>
            <a:ext cx="1069163" cy="241102"/>
          </a:xfrm>
          <a:prstGeom prst="rect">
            <a:avLst/>
          </a:prstGeom>
          <a:solidFill>
            <a:srgbClr val="0052CC"/>
          </a:solidFill>
          <a:ln/>
        </p:spPr>
      </p:sp>
      <p:sp>
        <p:nvSpPr>
          <p:cNvPr id="30" name="Text 27"/>
          <p:cNvSpPr/>
          <p:nvPr/>
        </p:nvSpPr>
        <p:spPr>
          <a:xfrm>
            <a:off x="7058025" y="3146431"/>
            <a:ext cx="1069163" cy="241102"/>
          </a:xfrm>
          <a:prstGeom prst="rect">
            <a:avLst/>
          </a:prstGeom>
          <a:noFill/>
          <a:ln/>
        </p:spPr>
        <p:txBody>
          <a:bodyPr wrap="square" lIns="136017" tIns="68072" rIns="136017" bIns="68072" rtlCol="0" anchor="t">
            <a:spAutoFit/>
          </a:bodyPr>
          <a:lstStyle/>
          <a:p>
            <a:pPr algn="ctr" indent="0" marL="0">
              <a:lnSpc>
                <a:spcPts val="900"/>
              </a:lnSpc>
              <a:buNone/>
            </a:pPr>
            <a:r>
              <a:rPr lang="en-US" sz="634" b="1" dirty="0">
                <a:solidFill>
                  <a:srgbClr val="FFFFFF"/>
                </a:solidFill>
              </a:rPr>
              <a:t>View Registrations</a:t>
            </a:r>
            <a:endParaRPr lang="en-US" sz="634" dirty="0"/>
          </a:p>
        </p:txBody>
      </p:sp>
      <p:sp>
        <p:nvSpPr>
          <p:cNvPr id="31" name="Text 28"/>
          <p:cNvSpPr/>
          <p:nvPr/>
        </p:nvSpPr>
        <p:spPr>
          <a:xfrm>
            <a:off x="571500" y="3476830"/>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Database Design Masterclass</a:t>
            </a:r>
            <a:endParaRPr lang="en-US" sz="683" dirty="0"/>
          </a:p>
        </p:txBody>
      </p:sp>
      <p:sp>
        <p:nvSpPr>
          <p:cNvPr id="32" name="Text 29"/>
          <p:cNvSpPr/>
          <p:nvPr/>
        </p:nvSpPr>
        <p:spPr>
          <a:xfrm>
            <a:off x="2971800" y="3476830"/>
            <a:ext cx="1600200" cy="419695"/>
          </a:xfrm>
          <a:prstGeom prst="rect">
            <a:avLst/>
          </a:prstGeom>
          <a:noFill/>
          <a:ln/>
        </p:spPr>
        <p:txBody>
          <a:bodyPr wrap="square" lIns="102108" tIns="102108" rIns="102108" bIns="102108" rtlCol="0" anchor="ctr">
            <a:spAutoFit/>
          </a:bodyPr>
          <a:lstStyle/>
          <a:p>
            <a:pPr algn="l" indent="0" marL="0">
              <a:lnSpc>
                <a:spcPts val="900"/>
              </a:lnSpc>
              <a:buNone/>
            </a:pPr>
            <a:r>
              <a:rPr lang="en-US" sz="727" dirty="0">
                <a:solidFill>
                  <a:srgbClr val="333333"/>
                </a:solidFill>
              </a:rPr>
              <a:t>2025-02-05</a:t>
            </a:r>
            <a:endParaRPr lang="en-US" sz="727" dirty="0"/>
          </a:p>
        </p:txBody>
      </p:sp>
      <p:sp>
        <p:nvSpPr>
          <p:cNvPr id="33" name="Text 30"/>
          <p:cNvSpPr/>
          <p:nvPr/>
        </p:nvSpPr>
        <p:spPr>
          <a:xfrm>
            <a:off x="4572000" y="3476830"/>
            <a:ext cx="2400300" cy="419695"/>
          </a:xfrm>
          <a:prstGeom prst="rect">
            <a:avLst/>
          </a:prstGeom>
          <a:noFill/>
          <a:ln/>
        </p:spPr>
        <p:txBody>
          <a:bodyPr wrap="square" lIns="102108" tIns="102108" rIns="102108" bIns="102108" rtlCol="0" anchor="ctr">
            <a:spAutoFit/>
          </a:bodyPr>
          <a:lstStyle/>
          <a:p>
            <a:pPr algn="l" indent="0" marL="0">
              <a:lnSpc>
                <a:spcPts val="900"/>
              </a:lnSpc>
              <a:buNone/>
            </a:pPr>
            <a:r>
              <a:rPr lang="en-US" sz="683" b="1" dirty="0">
                <a:solidFill>
                  <a:srgbClr val="333333"/>
                </a:solidFill>
              </a:rPr>
              <a:t>56 registered / 80 capacity</a:t>
            </a:r>
            <a:endParaRPr lang="en-US" sz="683" dirty="0"/>
          </a:p>
        </p:txBody>
      </p:sp>
      <p:sp>
        <p:nvSpPr>
          <p:cNvPr id="34" name="Shape 31"/>
          <p:cNvSpPr/>
          <p:nvPr/>
        </p:nvSpPr>
        <p:spPr>
          <a:xfrm>
            <a:off x="7058025" y="3566127"/>
            <a:ext cx="1069163" cy="241102"/>
          </a:xfrm>
          <a:prstGeom prst="rect">
            <a:avLst/>
          </a:prstGeom>
          <a:solidFill>
            <a:srgbClr val="0052CC"/>
          </a:solidFill>
          <a:ln/>
        </p:spPr>
      </p:sp>
      <p:sp>
        <p:nvSpPr>
          <p:cNvPr id="35" name="Text 32"/>
          <p:cNvSpPr/>
          <p:nvPr/>
        </p:nvSpPr>
        <p:spPr>
          <a:xfrm>
            <a:off x="7058025" y="3566127"/>
            <a:ext cx="1069163" cy="241102"/>
          </a:xfrm>
          <a:prstGeom prst="rect">
            <a:avLst/>
          </a:prstGeom>
          <a:noFill/>
          <a:ln/>
        </p:spPr>
        <p:txBody>
          <a:bodyPr wrap="square" lIns="136017" tIns="68072" rIns="136017" bIns="68072" rtlCol="0" anchor="t">
            <a:spAutoFit/>
          </a:bodyPr>
          <a:lstStyle/>
          <a:p>
            <a:pPr algn="ctr" indent="0" marL="0">
              <a:lnSpc>
                <a:spcPts val="900"/>
              </a:lnSpc>
              <a:buNone/>
            </a:pPr>
            <a:r>
              <a:rPr lang="en-US" sz="634" b="1" dirty="0">
                <a:solidFill>
                  <a:srgbClr val="FFFFFF"/>
                </a:solidFill>
              </a:rPr>
              <a:t>View Registrations</a:t>
            </a:r>
            <a:endParaRPr lang="en-US" sz="6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426655"/>
          </a:xfrm>
          <a:prstGeom prst="rect">
            <a:avLst/>
          </a:prstGeom>
        </p:spPr>
      </p:pic>
      <p:sp>
        <p:nvSpPr>
          <p:cNvPr id="3" name="Text 0"/>
          <p:cNvSpPr/>
          <p:nvPr/>
        </p:nvSpPr>
        <p:spPr>
          <a:xfrm>
            <a:off x="571500" y="428625"/>
            <a:ext cx="8001000" cy="411463"/>
          </a:xfrm>
          <a:prstGeom prst="rect">
            <a:avLst/>
          </a:prstGeom>
          <a:noFill/>
          <a:ln/>
        </p:spPr>
        <p:txBody>
          <a:bodyPr wrap="none" lIns="0" tIns="0" rIns="0" bIns="0" rtlCol="0" anchor="t">
            <a:spAutoFit/>
          </a:bodyPr>
          <a:lstStyle/>
          <a:p>
            <a:pPr algn="l" indent="0" marL="0">
              <a:lnSpc>
                <a:spcPts val="3200"/>
              </a:lnSpc>
              <a:buNone/>
            </a:pPr>
            <a:r>
              <a:rPr lang="en-US" sz="2436" b="1" dirty="0">
                <a:solidFill>
                  <a:srgbClr val="1A1A1A"/>
                </a:solidFill>
              </a:rPr>
              <a:t>Demo: Event </a:t>
            </a:r>
            <a:pPr algn="l" indent="0" marL="0">
              <a:lnSpc>
                <a:spcPts val="3200"/>
              </a:lnSpc>
              <a:buNone/>
            </a:pPr>
            <a:r>
              <a:rPr lang="en-US" sz="2436" b="1" dirty="0">
                <a:solidFill>
                  <a:srgbClr val="0052CC"/>
                </a:solidFill>
              </a:rPr>
              <a:t>Creation and Management</a:t>
            </a:r>
            <a:endParaRPr lang="en-US" sz="2436" dirty="0"/>
          </a:p>
        </p:txBody>
      </p:sp>
      <p:sp>
        <p:nvSpPr>
          <p:cNvPr id="4" name="Text 1"/>
          <p:cNvSpPr/>
          <p:nvPr/>
        </p:nvSpPr>
        <p:spPr>
          <a:xfrm>
            <a:off x="571500" y="947245"/>
            <a:ext cx="8001000" cy="388609"/>
          </a:xfrm>
          <a:prstGeom prst="rect">
            <a:avLst/>
          </a:prstGeom>
          <a:noFill/>
          <a:ln/>
        </p:spPr>
        <p:txBody>
          <a:bodyPr wrap="square" lIns="0" tIns="0" rIns="0" bIns="0" rtlCol="0" anchor="t">
            <a:spAutoFit/>
          </a:bodyPr>
          <a:lstStyle/>
          <a:p>
            <a:pPr algn="l" indent="0" marL="0">
              <a:lnSpc>
                <a:spcPts val="1500"/>
              </a:lnSpc>
              <a:buNone/>
            </a:pPr>
            <a:r>
              <a:rPr lang="en-US" sz="834" dirty="0">
                <a:solidFill>
                  <a:srgbClr val="333333"/>
                </a:solidFill>
              </a:rPr>
              <a:t>This interface allows administrators to create new events and manage existing ones. The form provides a comprehensive set of fields to define all essential event details, ensuring complete information capture for successful event execution.</a:t>
            </a:r>
            <a:endParaRPr lang="en-US" sz="834" dirty="0"/>
          </a:p>
        </p:txBody>
      </p:sp>
      <p:sp>
        <p:nvSpPr>
          <p:cNvPr id="5" name="Text 2"/>
          <p:cNvSpPr/>
          <p:nvPr/>
        </p:nvSpPr>
        <p:spPr>
          <a:xfrm>
            <a:off x="571500" y="1764478"/>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Event Title</a:t>
            </a:r>
            <a:endParaRPr lang="en-US" sz="683" dirty="0"/>
          </a:p>
        </p:txBody>
      </p:sp>
      <p:sp>
        <p:nvSpPr>
          <p:cNvPr id="6" name="Text 3"/>
          <p:cNvSpPr/>
          <p:nvPr/>
        </p:nvSpPr>
        <p:spPr>
          <a:xfrm>
            <a:off x="571500" y="1957360"/>
            <a:ext cx="3893344"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The name or title of the event that will be displayed to attendees.</a:t>
            </a:r>
            <a:endParaRPr lang="en-US" sz="727" dirty="0"/>
          </a:p>
        </p:txBody>
      </p:sp>
      <p:sp>
        <p:nvSpPr>
          <p:cNvPr id="7" name="Text 4"/>
          <p:cNvSpPr/>
          <p:nvPr/>
        </p:nvSpPr>
        <p:spPr>
          <a:xfrm>
            <a:off x="571500" y="2295962"/>
            <a:ext cx="3893344" cy="126802"/>
          </a:xfrm>
          <a:prstGeom prst="rect">
            <a:avLst/>
          </a:prstGeom>
          <a:noFill/>
          <a:ln/>
        </p:spPr>
        <p:txBody>
          <a:bodyPr wrap="none" lIns="0" tIns="0" rIns="0" bIns="0" rtlCol="0" anchor="t">
            <a:spAutoFit/>
          </a:bodyPr>
          <a:lstStyle/>
          <a:p>
            <a:pPr algn="l" indent="0" marL="0">
              <a:lnSpc>
                <a:spcPts val="900"/>
              </a:lnSpc>
              <a:buNone/>
            </a:pPr>
            <a:r>
              <a:rPr lang="en-US" sz="674" i="1" dirty="0">
                <a:solidFill>
                  <a:srgbClr val="666666"/>
                </a:solidFill>
              </a:rPr>
              <a:t>Text input field</a:t>
            </a:r>
            <a:endParaRPr lang="en-US" sz="674" dirty="0"/>
          </a:p>
        </p:txBody>
      </p:sp>
      <p:sp>
        <p:nvSpPr>
          <p:cNvPr id="8" name="Text 5"/>
          <p:cNvSpPr/>
          <p:nvPr/>
        </p:nvSpPr>
        <p:spPr>
          <a:xfrm>
            <a:off x="4679156" y="1764478"/>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Event Description</a:t>
            </a:r>
            <a:endParaRPr lang="en-US" sz="683" dirty="0"/>
          </a:p>
        </p:txBody>
      </p:sp>
      <p:sp>
        <p:nvSpPr>
          <p:cNvPr id="9" name="Text 6"/>
          <p:cNvSpPr/>
          <p:nvPr/>
        </p:nvSpPr>
        <p:spPr>
          <a:xfrm>
            <a:off x="4679156" y="1957360"/>
            <a:ext cx="3893344" cy="320018"/>
          </a:xfrm>
          <a:prstGeom prst="rect">
            <a:avLst/>
          </a:prstGeom>
          <a:noFill/>
          <a:ln/>
        </p:spPr>
        <p:txBody>
          <a:bodyPr wrap="square" lIns="0" tIns="0" rIns="0" bIns="0" rtlCol="0" anchor="t">
            <a:spAutoFit/>
          </a:bodyPr>
          <a:lstStyle/>
          <a:p>
            <a:pPr algn="l" indent="0" marL="0">
              <a:lnSpc>
                <a:spcPts val="1300"/>
              </a:lnSpc>
              <a:buNone/>
            </a:pPr>
            <a:r>
              <a:rPr lang="en-US" sz="727" dirty="0">
                <a:solidFill>
                  <a:srgbClr val="333333"/>
                </a:solidFill>
              </a:rPr>
              <a:t>Detailed information about the event, including objectives, agenda, and key highlights.</a:t>
            </a:r>
            <a:endParaRPr lang="en-US" sz="727" dirty="0"/>
          </a:p>
        </p:txBody>
      </p:sp>
      <p:sp>
        <p:nvSpPr>
          <p:cNvPr id="10" name="Text 7"/>
          <p:cNvSpPr/>
          <p:nvPr/>
        </p:nvSpPr>
        <p:spPr>
          <a:xfrm>
            <a:off x="4679156" y="2455971"/>
            <a:ext cx="3893344" cy="126802"/>
          </a:xfrm>
          <a:prstGeom prst="rect">
            <a:avLst/>
          </a:prstGeom>
          <a:noFill/>
          <a:ln/>
        </p:spPr>
        <p:txBody>
          <a:bodyPr wrap="none" lIns="0" tIns="0" rIns="0" bIns="0" rtlCol="0" anchor="t">
            <a:spAutoFit/>
          </a:bodyPr>
          <a:lstStyle/>
          <a:p>
            <a:pPr algn="l" indent="0" marL="0">
              <a:lnSpc>
                <a:spcPts val="900"/>
              </a:lnSpc>
              <a:buNone/>
            </a:pPr>
            <a:r>
              <a:rPr lang="en-US" sz="674" i="1" dirty="0">
                <a:solidFill>
                  <a:srgbClr val="666666"/>
                </a:solidFill>
              </a:rPr>
              <a:t>Rich text area</a:t>
            </a:r>
            <a:endParaRPr lang="en-US" sz="674" dirty="0"/>
          </a:p>
        </p:txBody>
      </p:sp>
      <p:sp>
        <p:nvSpPr>
          <p:cNvPr id="11" name="Text 8"/>
          <p:cNvSpPr/>
          <p:nvPr/>
        </p:nvSpPr>
        <p:spPr>
          <a:xfrm>
            <a:off x="571500" y="2797085"/>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Date &amp; Time</a:t>
            </a:r>
            <a:endParaRPr lang="en-US" sz="683" dirty="0"/>
          </a:p>
        </p:txBody>
      </p:sp>
      <p:sp>
        <p:nvSpPr>
          <p:cNvPr id="12" name="Text 9"/>
          <p:cNvSpPr/>
          <p:nvPr/>
        </p:nvSpPr>
        <p:spPr>
          <a:xfrm>
            <a:off x="571500" y="2989966"/>
            <a:ext cx="3893344"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The scheduled date and time for the event, with start and end time specifications.</a:t>
            </a:r>
            <a:endParaRPr lang="en-US" sz="727" dirty="0"/>
          </a:p>
        </p:txBody>
      </p:sp>
      <p:sp>
        <p:nvSpPr>
          <p:cNvPr id="13" name="Text 10"/>
          <p:cNvSpPr/>
          <p:nvPr/>
        </p:nvSpPr>
        <p:spPr>
          <a:xfrm>
            <a:off x="571500" y="3328569"/>
            <a:ext cx="3893344" cy="126802"/>
          </a:xfrm>
          <a:prstGeom prst="rect">
            <a:avLst/>
          </a:prstGeom>
          <a:noFill/>
          <a:ln/>
        </p:spPr>
        <p:txBody>
          <a:bodyPr wrap="none" lIns="0" tIns="0" rIns="0" bIns="0" rtlCol="0" anchor="t">
            <a:spAutoFit/>
          </a:bodyPr>
          <a:lstStyle/>
          <a:p>
            <a:pPr algn="l" indent="0" marL="0">
              <a:lnSpc>
                <a:spcPts val="900"/>
              </a:lnSpc>
              <a:buNone/>
            </a:pPr>
            <a:r>
              <a:rPr lang="en-US" sz="674" i="1" dirty="0">
                <a:solidFill>
                  <a:srgbClr val="666666"/>
                </a:solidFill>
              </a:rPr>
              <a:t>Date and time picker</a:t>
            </a:r>
            <a:endParaRPr lang="en-US" sz="674" dirty="0"/>
          </a:p>
        </p:txBody>
      </p:sp>
      <p:sp>
        <p:nvSpPr>
          <p:cNvPr id="14" name="Text 11"/>
          <p:cNvSpPr/>
          <p:nvPr/>
        </p:nvSpPr>
        <p:spPr>
          <a:xfrm>
            <a:off x="4679156" y="2797085"/>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Location/Venue</a:t>
            </a:r>
            <a:endParaRPr lang="en-US" sz="683" dirty="0"/>
          </a:p>
        </p:txBody>
      </p:sp>
      <p:sp>
        <p:nvSpPr>
          <p:cNvPr id="15" name="Text 12"/>
          <p:cNvSpPr/>
          <p:nvPr/>
        </p:nvSpPr>
        <p:spPr>
          <a:xfrm>
            <a:off x="4679156" y="2989966"/>
            <a:ext cx="3893344"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The physical or virtual location where the event will take place.</a:t>
            </a:r>
            <a:endParaRPr lang="en-US" sz="727" dirty="0"/>
          </a:p>
        </p:txBody>
      </p:sp>
      <p:sp>
        <p:nvSpPr>
          <p:cNvPr id="16" name="Text 13"/>
          <p:cNvSpPr/>
          <p:nvPr/>
        </p:nvSpPr>
        <p:spPr>
          <a:xfrm>
            <a:off x="4679156" y="3328569"/>
            <a:ext cx="3893344" cy="126802"/>
          </a:xfrm>
          <a:prstGeom prst="rect">
            <a:avLst/>
          </a:prstGeom>
          <a:noFill/>
          <a:ln/>
        </p:spPr>
        <p:txBody>
          <a:bodyPr wrap="none" lIns="0" tIns="0" rIns="0" bIns="0" rtlCol="0" anchor="t">
            <a:spAutoFit/>
          </a:bodyPr>
          <a:lstStyle/>
          <a:p>
            <a:pPr algn="l" indent="0" marL="0">
              <a:lnSpc>
                <a:spcPts val="900"/>
              </a:lnSpc>
              <a:buNone/>
            </a:pPr>
            <a:r>
              <a:rPr lang="en-US" sz="674" i="1" dirty="0">
                <a:solidFill>
                  <a:srgbClr val="666666"/>
                </a:solidFill>
              </a:rPr>
              <a:t>Text input field</a:t>
            </a:r>
            <a:endParaRPr lang="en-US" sz="674" dirty="0"/>
          </a:p>
        </p:txBody>
      </p:sp>
      <p:sp>
        <p:nvSpPr>
          <p:cNvPr id="17" name="Text 14"/>
          <p:cNvSpPr/>
          <p:nvPr/>
        </p:nvSpPr>
        <p:spPr>
          <a:xfrm>
            <a:off x="571500" y="3669683"/>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Event Capacity</a:t>
            </a:r>
            <a:endParaRPr lang="en-US" sz="683" dirty="0"/>
          </a:p>
        </p:txBody>
      </p:sp>
      <p:sp>
        <p:nvSpPr>
          <p:cNvPr id="18" name="Text 15"/>
          <p:cNvSpPr/>
          <p:nvPr/>
        </p:nvSpPr>
        <p:spPr>
          <a:xfrm>
            <a:off x="571500" y="3862564"/>
            <a:ext cx="3893344"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The maximum number of attendees allowed for the event.</a:t>
            </a:r>
            <a:endParaRPr lang="en-US" sz="727" dirty="0"/>
          </a:p>
        </p:txBody>
      </p:sp>
      <p:sp>
        <p:nvSpPr>
          <p:cNvPr id="19" name="Text 16"/>
          <p:cNvSpPr/>
          <p:nvPr/>
        </p:nvSpPr>
        <p:spPr>
          <a:xfrm>
            <a:off x="571500" y="4201167"/>
            <a:ext cx="3893344" cy="126802"/>
          </a:xfrm>
          <a:prstGeom prst="rect">
            <a:avLst/>
          </a:prstGeom>
          <a:noFill/>
          <a:ln/>
        </p:spPr>
        <p:txBody>
          <a:bodyPr wrap="none" lIns="0" tIns="0" rIns="0" bIns="0" rtlCol="0" anchor="t">
            <a:spAutoFit/>
          </a:bodyPr>
          <a:lstStyle/>
          <a:p>
            <a:pPr algn="l" indent="0" marL="0">
              <a:lnSpc>
                <a:spcPts val="900"/>
              </a:lnSpc>
              <a:buNone/>
            </a:pPr>
            <a:r>
              <a:rPr lang="en-US" sz="674" i="1" dirty="0">
                <a:solidFill>
                  <a:srgbClr val="666666"/>
                </a:solidFill>
              </a:rPr>
              <a:t>Numeric input field</a:t>
            </a:r>
            <a:endParaRPr lang="en-US" sz="674" dirty="0"/>
          </a:p>
        </p:txBody>
      </p:sp>
      <p:sp>
        <p:nvSpPr>
          <p:cNvPr id="20" name="Text 17"/>
          <p:cNvSpPr/>
          <p:nvPr/>
        </p:nvSpPr>
        <p:spPr>
          <a:xfrm>
            <a:off x="4679156" y="3669683"/>
            <a:ext cx="3893344" cy="135731"/>
          </a:xfrm>
          <a:prstGeom prst="rect">
            <a:avLst/>
          </a:prstGeom>
          <a:noFill/>
          <a:ln/>
        </p:spPr>
        <p:txBody>
          <a:bodyPr wrap="none" lIns="0" tIns="0" rIns="0" bIns="0" rtlCol="0" anchor="t">
            <a:spAutoFit/>
          </a:bodyPr>
          <a:lstStyle/>
          <a:p>
            <a:pPr algn="l" indent="0" marL="0">
              <a:lnSpc>
                <a:spcPts val="900"/>
              </a:lnSpc>
              <a:buNone/>
            </a:pPr>
            <a:r>
              <a:rPr lang="en-US" sz="683" b="1" spc="1" kern="0" dirty="0">
                <a:solidFill>
                  <a:srgbClr val="0052CC"/>
                </a:solidFill>
              </a:rPr>
              <a:t>Registration Deadline</a:t>
            </a:r>
            <a:endParaRPr lang="en-US" sz="683" dirty="0"/>
          </a:p>
        </p:txBody>
      </p:sp>
      <p:sp>
        <p:nvSpPr>
          <p:cNvPr id="21" name="Text 18"/>
          <p:cNvSpPr/>
          <p:nvPr/>
        </p:nvSpPr>
        <p:spPr>
          <a:xfrm>
            <a:off x="4679156" y="3862564"/>
            <a:ext cx="3893344" cy="160009"/>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The final date and time by which attendees must register for the event.</a:t>
            </a:r>
            <a:endParaRPr lang="en-US" sz="727" dirty="0"/>
          </a:p>
        </p:txBody>
      </p:sp>
      <p:sp>
        <p:nvSpPr>
          <p:cNvPr id="22" name="Text 19"/>
          <p:cNvSpPr/>
          <p:nvPr/>
        </p:nvSpPr>
        <p:spPr>
          <a:xfrm>
            <a:off x="4679156" y="4201167"/>
            <a:ext cx="3893344" cy="126802"/>
          </a:xfrm>
          <a:prstGeom prst="rect">
            <a:avLst/>
          </a:prstGeom>
          <a:noFill/>
          <a:ln/>
        </p:spPr>
        <p:txBody>
          <a:bodyPr wrap="none" lIns="0" tIns="0" rIns="0" bIns="0" rtlCol="0" anchor="t">
            <a:spAutoFit/>
          </a:bodyPr>
          <a:lstStyle/>
          <a:p>
            <a:pPr algn="l" indent="0" marL="0">
              <a:lnSpc>
                <a:spcPts val="900"/>
              </a:lnSpc>
              <a:buNone/>
            </a:pPr>
            <a:r>
              <a:rPr lang="en-US" sz="674" i="1" dirty="0">
                <a:solidFill>
                  <a:srgbClr val="666666"/>
                </a:solidFill>
              </a:rPr>
              <a:t>Date and time picker</a:t>
            </a:r>
            <a:endParaRPr lang="en-US" sz="674" dirty="0"/>
          </a:p>
        </p:txBody>
      </p:sp>
      <p:sp>
        <p:nvSpPr>
          <p:cNvPr id="23" name="Shape 20"/>
          <p:cNvSpPr/>
          <p:nvPr/>
        </p:nvSpPr>
        <p:spPr>
          <a:xfrm>
            <a:off x="571500" y="4542281"/>
            <a:ext cx="8001000" cy="470036"/>
          </a:xfrm>
          <a:prstGeom prst="rect">
            <a:avLst/>
          </a:prstGeom>
          <a:solidFill>
            <a:srgbClr val="000000">
              <a:alpha val="0"/>
            </a:srgbClr>
          </a:solidFill>
          <a:ln/>
        </p:spPr>
      </p:sp>
      <p:sp>
        <p:nvSpPr>
          <p:cNvPr id="24" name="Shape 21"/>
          <p:cNvSpPr/>
          <p:nvPr/>
        </p:nvSpPr>
        <p:spPr>
          <a:xfrm>
            <a:off x="571500" y="4542281"/>
            <a:ext cx="8001000" cy="7144"/>
          </a:xfrm>
          <a:prstGeom prst="rect">
            <a:avLst/>
          </a:prstGeom>
          <a:solidFill>
            <a:srgbClr val="E0E0E0"/>
          </a:solidFill>
          <a:ln/>
        </p:spPr>
      </p:sp>
      <p:sp>
        <p:nvSpPr>
          <p:cNvPr id="25" name="Text 22"/>
          <p:cNvSpPr/>
          <p:nvPr/>
        </p:nvSpPr>
        <p:spPr>
          <a:xfrm>
            <a:off x="571500" y="4685156"/>
            <a:ext cx="8001000" cy="320018"/>
          </a:xfrm>
          <a:prstGeom prst="rect">
            <a:avLst/>
          </a:prstGeom>
          <a:noFill/>
          <a:ln/>
        </p:spPr>
        <p:txBody>
          <a:bodyPr wrap="square" lIns="0" tIns="0" rIns="0" bIns="0" rtlCol="0" anchor="t">
            <a:spAutoFit/>
          </a:bodyPr>
          <a:lstStyle/>
          <a:p>
            <a:pPr algn="l" indent="0" marL="0">
              <a:lnSpc>
                <a:spcPts val="1300"/>
              </a:lnSpc>
              <a:buNone/>
            </a:pPr>
            <a:r>
              <a:rPr lang="en-US" sz="683" b="1" dirty="0">
                <a:solidFill>
                  <a:srgbClr val="0052CC"/>
                </a:solidFill>
              </a:rPr>
              <a:t>Create Event / Save Changes:</a:t>
            </a:r>
            <a:pPr algn="l" indent="0" marL="0">
              <a:lnSpc>
                <a:spcPts val="1300"/>
              </a:lnSpc>
              <a:buNone/>
            </a:pPr>
            <a:r>
              <a:rPr lang="en-US" sz="727" dirty="0">
                <a:solidFill>
                  <a:srgbClr val="333333"/>
                </a:solidFill>
              </a:rPr>
              <a:t> Administrators can submit the form to create a new event or update an existing event's details. The system validates all required fields </a:t>
            </a:r>
            <a:pPr algn="l" indent="0" marL="0">
              <a:lnSpc>
                <a:spcPts val="1300"/>
              </a:lnSpc>
              <a:buNone/>
            </a:pPr>
            <a:r>
              <a:rPr lang="en-US" sz="727" dirty="0">
                <a:solidFill>
                  <a:srgbClr val="333333"/>
                </a:solidFill>
              </a:rPr>
              <a:t>before processing.</a:t>
            </a:r>
            <a:endParaRPr lang="en-US" sz="683"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98705" y="890457"/>
            <a:ext cx="7546563" cy="480054"/>
          </a:xfrm>
          <a:prstGeom prst="rect">
            <a:avLst/>
          </a:prstGeom>
          <a:noFill/>
          <a:ln/>
        </p:spPr>
        <p:txBody>
          <a:bodyPr wrap="none" lIns="0" tIns="0" rIns="0" bIns="0" rtlCol="0" anchor="t">
            <a:spAutoFit/>
          </a:bodyPr>
          <a:lstStyle/>
          <a:p>
            <a:pPr algn="ctr" indent="0" marL="0">
              <a:lnSpc>
                <a:spcPts val="3800"/>
              </a:lnSpc>
              <a:buNone/>
            </a:pPr>
            <a:r>
              <a:rPr lang="en-US" sz="2862" b="1" dirty="0">
                <a:solidFill>
                  <a:srgbClr val="0052CC"/>
                </a:solidFill>
              </a:rPr>
              <a:t>Conclusion</a:t>
            </a:r>
            <a:pPr algn="ctr" indent="0" marL="0">
              <a:lnSpc>
                <a:spcPts val="3800"/>
              </a:lnSpc>
              <a:buNone/>
            </a:pPr>
            <a:r>
              <a:rPr lang="en-US" sz="2862" b="1" dirty="0">
                <a:solidFill>
                  <a:srgbClr val="1A1A1A"/>
                </a:solidFill>
              </a:rPr>
              <a:t> and Future Enhancements</a:t>
            </a:r>
            <a:endParaRPr lang="en-US" sz="2862" dirty="0"/>
          </a:p>
        </p:txBody>
      </p:sp>
      <p:sp>
        <p:nvSpPr>
          <p:cNvPr id="4" name="Text 1"/>
          <p:cNvSpPr/>
          <p:nvPr/>
        </p:nvSpPr>
        <p:spPr>
          <a:xfrm>
            <a:off x="1000125" y="1727699"/>
            <a:ext cx="3357563" cy="314325"/>
          </a:xfrm>
          <a:prstGeom prst="rect">
            <a:avLst/>
          </a:prstGeom>
          <a:noFill/>
          <a:ln/>
        </p:spPr>
        <p:txBody>
          <a:bodyPr wrap="square" lIns="0" tIns="0" rIns="0" bIns="102108" rtlCol="0" anchor="t">
            <a:spAutoFit/>
          </a:bodyPr>
          <a:lstStyle/>
          <a:p>
            <a:pPr algn="l" indent="0" marL="0">
              <a:lnSpc>
                <a:spcPts val="1500"/>
              </a:lnSpc>
              <a:buNone/>
            </a:pPr>
            <a:r>
              <a:rPr lang="en-US" sz="1090" b="1" dirty="0">
                <a:solidFill>
                  <a:srgbClr val="1A1A1A"/>
                </a:solidFill>
              </a:rPr>
              <a:t>Summary of Achievements</a:t>
            </a:r>
            <a:endParaRPr lang="en-US" sz="1090" dirty="0"/>
          </a:p>
        </p:txBody>
      </p:sp>
      <p:sp>
        <p:nvSpPr>
          <p:cNvPr id="5" name="Text 2"/>
          <p:cNvSpPr/>
          <p:nvPr/>
        </p:nvSpPr>
        <p:spPr>
          <a:xfrm>
            <a:off x="1000125" y="2184899"/>
            <a:ext cx="92952" cy="218582"/>
          </a:xfrm>
          <a:prstGeom prst="rect">
            <a:avLst/>
          </a:prstGeom>
          <a:noFill/>
          <a:ln/>
        </p:spPr>
        <p:txBody>
          <a:bodyPr wrap="none" lIns="0" tIns="0" rIns="0" bIns="0" rtlCol="0" anchor="t">
            <a:spAutoFit/>
          </a:bodyPr>
          <a:lstStyle/>
          <a:p>
            <a:pPr algn="l" indent="0" marL="0">
              <a:lnSpc>
                <a:spcPts val="1700"/>
              </a:lnSpc>
              <a:buNone/>
            </a:pPr>
            <a:r>
              <a:rPr lang="en-US" sz="885" b="1" dirty="0">
                <a:solidFill>
                  <a:srgbClr val="0052CC"/>
                </a:solidFill>
              </a:rPr>
              <a:t>✓</a:t>
            </a:r>
            <a:endParaRPr lang="en-US" sz="885" dirty="0"/>
          </a:p>
        </p:txBody>
      </p:sp>
      <p:sp>
        <p:nvSpPr>
          <p:cNvPr id="6" name="Text 3"/>
          <p:cNvSpPr/>
          <p:nvPr/>
        </p:nvSpPr>
        <p:spPr>
          <a:xfrm>
            <a:off x="1143000" y="2184899"/>
            <a:ext cx="3214688" cy="182166"/>
          </a:xfrm>
          <a:prstGeom prst="rect">
            <a:avLst/>
          </a:prstGeom>
          <a:noFill/>
          <a:ln/>
        </p:spPr>
        <p:txBody>
          <a:bodyPr wrap="none" lIns="0" tIns="0" rIns="0" bIns="0" rtlCol="0" anchor="t">
            <a:spAutoFit/>
          </a:bodyPr>
          <a:lstStyle/>
          <a:p>
            <a:pPr algn="l" indent="0" marL="0">
              <a:lnSpc>
                <a:spcPts val="1400"/>
              </a:lnSpc>
              <a:buNone/>
            </a:pPr>
            <a:r>
              <a:rPr lang="en-US" sz="734" b="1" dirty="0">
                <a:solidFill>
                  <a:srgbClr val="1A1A1A"/>
                </a:solidFill>
              </a:rPr>
              <a:t>Improved Efficiency</a:t>
            </a:r>
            <a:endParaRPr lang="en-US" sz="734" dirty="0"/>
          </a:p>
        </p:txBody>
      </p:sp>
      <p:sp>
        <p:nvSpPr>
          <p:cNvPr id="7" name="Text 4"/>
          <p:cNvSpPr/>
          <p:nvPr/>
        </p:nvSpPr>
        <p:spPr>
          <a:xfrm>
            <a:off x="1143000" y="2422429"/>
            <a:ext cx="2553444"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Automated registration and tracking processes reduce</a:t>
            </a:r>
            <a:endParaRPr lang="en-US" sz="727" dirty="0"/>
          </a:p>
        </p:txBody>
      </p:sp>
      <p:sp>
        <p:nvSpPr>
          <p:cNvPr id="8" name="Text 5"/>
          <p:cNvSpPr/>
          <p:nvPr/>
        </p:nvSpPr>
        <p:spPr>
          <a:xfrm>
            <a:off x="1143000" y="2604595"/>
            <a:ext cx="1984065"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administrative overhead and human error.</a:t>
            </a:r>
            <a:endParaRPr lang="en-US" sz="727" dirty="0"/>
          </a:p>
        </p:txBody>
      </p:sp>
      <p:sp>
        <p:nvSpPr>
          <p:cNvPr id="9" name="Text 6"/>
          <p:cNvSpPr/>
          <p:nvPr/>
        </p:nvSpPr>
        <p:spPr>
          <a:xfrm>
            <a:off x="1000125" y="2874271"/>
            <a:ext cx="92952" cy="218582"/>
          </a:xfrm>
          <a:prstGeom prst="rect">
            <a:avLst/>
          </a:prstGeom>
          <a:noFill/>
          <a:ln/>
        </p:spPr>
        <p:txBody>
          <a:bodyPr wrap="none" lIns="0" tIns="0" rIns="0" bIns="0" rtlCol="0" anchor="t">
            <a:spAutoFit/>
          </a:bodyPr>
          <a:lstStyle/>
          <a:p>
            <a:pPr algn="l" indent="0" marL="0">
              <a:lnSpc>
                <a:spcPts val="1700"/>
              </a:lnSpc>
              <a:buNone/>
            </a:pPr>
            <a:r>
              <a:rPr lang="en-US" sz="885" b="1" dirty="0">
                <a:solidFill>
                  <a:srgbClr val="0052CC"/>
                </a:solidFill>
              </a:rPr>
              <a:t>✓</a:t>
            </a:r>
            <a:endParaRPr lang="en-US" sz="885" dirty="0"/>
          </a:p>
        </p:txBody>
      </p:sp>
      <p:sp>
        <p:nvSpPr>
          <p:cNvPr id="10" name="Text 7"/>
          <p:cNvSpPr/>
          <p:nvPr/>
        </p:nvSpPr>
        <p:spPr>
          <a:xfrm>
            <a:off x="1143000" y="2874271"/>
            <a:ext cx="3214688" cy="182166"/>
          </a:xfrm>
          <a:prstGeom prst="rect">
            <a:avLst/>
          </a:prstGeom>
          <a:noFill/>
          <a:ln/>
        </p:spPr>
        <p:txBody>
          <a:bodyPr wrap="none" lIns="0" tIns="0" rIns="0" bIns="0" rtlCol="0" anchor="t">
            <a:spAutoFit/>
          </a:bodyPr>
          <a:lstStyle/>
          <a:p>
            <a:pPr algn="l" indent="0" marL="0">
              <a:lnSpc>
                <a:spcPts val="1400"/>
              </a:lnSpc>
              <a:buNone/>
            </a:pPr>
            <a:r>
              <a:rPr lang="en-US" sz="734" b="1" dirty="0">
                <a:solidFill>
                  <a:srgbClr val="1A1A1A"/>
                </a:solidFill>
              </a:rPr>
              <a:t>Enhanced Data Quality</a:t>
            </a:r>
            <a:endParaRPr lang="en-US" sz="734" dirty="0"/>
          </a:p>
        </p:txBody>
      </p:sp>
      <p:sp>
        <p:nvSpPr>
          <p:cNvPr id="11" name="Text 8"/>
          <p:cNvSpPr/>
          <p:nvPr/>
        </p:nvSpPr>
        <p:spPr>
          <a:xfrm>
            <a:off x="1143000" y="3111801"/>
            <a:ext cx="3205925"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Centralized MySQL database ensures data consistency and reliability</a:t>
            </a:r>
            <a:endParaRPr lang="en-US" sz="727" dirty="0"/>
          </a:p>
        </p:txBody>
      </p:sp>
      <p:sp>
        <p:nvSpPr>
          <p:cNvPr id="12" name="Text 9"/>
          <p:cNvSpPr/>
          <p:nvPr/>
        </p:nvSpPr>
        <p:spPr>
          <a:xfrm>
            <a:off x="1143000" y="3293966"/>
            <a:ext cx="1167557"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across the entire system.</a:t>
            </a:r>
            <a:endParaRPr lang="en-US" sz="727" dirty="0"/>
          </a:p>
        </p:txBody>
      </p:sp>
      <p:sp>
        <p:nvSpPr>
          <p:cNvPr id="13" name="Text 10"/>
          <p:cNvSpPr/>
          <p:nvPr/>
        </p:nvSpPr>
        <p:spPr>
          <a:xfrm>
            <a:off x="1000125" y="3563643"/>
            <a:ext cx="92952" cy="218582"/>
          </a:xfrm>
          <a:prstGeom prst="rect">
            <a:avLst/>
          </a:prstGeom>
          <a:noFill/>
          <a:ln/>
        </p:spPr>
        <p:txBody>
          <a:bodyPr wrap="none" lIns="0" tIns="0" rIns="0" bIns="0" rtlCol="0" anchor="t">
            <a:spAutoFit/>
          </a:bodyPr>
          <a:lstStyle/>
          <a:p>
            <a:pPr algn="l" indent="0" marL="0">
              <a:lnSpc>
                <a:spcPts val="1700"/>
              </a:lnSpc>
              <a:buNone/>
            </a:pPr>
            <a:r>
              <a:rPr lang="en-US" sz="885" b="1" dirty="0">
                <a:solidFill>
                  <a:srgbClr val="0052CC"/>
                </a:solidFill>
              </a:rPr>
              <a:t>✓</a:t>
            </a:r>
            <a:endParaRPr lang="en-US" sz="885" dirty="0"/>
          </a:p>
        </p:txBody>
      </p:sp>
      <p:sp>
        <p:nvSpPr>
          <p:cNvPr id="14" name="Text 11"/>
          <p:cNvSpPr/>
          <p:nvPr/>
        </p:nvSpPr>
        <p:spPr>
          <a:xfrm>
            <a:off x="1143000" y="3563643"/>
            <a:ext cx="3214688" cy="182166"/>
          </a:xfrm>
          <a:prstGeom prst="rect">
            <a:avLst/>
          </a:prstGeom>
          <a:noFill/>
          <a:ln/>
        </p:spPr>
        <p:txBody>
          <a:bodyPr wrap="none" lIns="0" tIns="0" rIns="0" bIns="0" rtlCol="0" anchor="t">
            <a:spAutoFit/>
          </a:bodyPr>
          <a:lstStyle/>
          <a:p>
            <a:pPr algn="l" indent="0" marL="0">
              <a:lnSpc>
                <a:spcPts val="1400"/>
              </a:lnSpc>
              <a:buNone/>
            </a:pPr>
            <a:r>
              <a:rPr lang="en-US" sz="734" b="1" dirty="0">
                <a:solidFill>
                  <a:srgbClr val="1A1A1A"/>
                </a:solidFill>
              </a:rPr>
              <a:t>Better Oversight</a:t>
            </a:r>
            <a:endParaRPr lang="en-US" sz="734" dirty="0"/>
          </a:p>
        </p:txBody>
      </p:sp>
      <p:sp>
        <p:nvSpPr>
          <p:cNvPr id="15" name="Text 12"/>
          <p:cNvSpPr/>
          <p:nvPr/>
        </p:nvSpPr>
        <p:spPr>
          <a:xfrm>
            <a:off x="1143000" y="3801173"/>
            <a:ext cx="2967196"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Real-time dashboard provides administrators with critical event</a:t>
            </a:r>
            <a:endParaRPr lang="en-US" sz="727" dirty="0"/>
          </a:p>
        </p:txBody>
      </p:sp>
      <p:sp>
        <p:nvSpPr>
          <p:cNvPr id="16" name="Text 13"/>
          <p:cNvSpPr/>
          <p:nvPr/>
        </p:nvSpPr>
        <p:spPr>
          <a:xfrm>
            <a:off x="1143000" y="3983338"/>
            <a:ext cx="1548603"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metrics and registration insights.</a:t>
            </a:r>
            <a:endParaRPr lang="en-US" sz="727" dirty="0"/>
          </a:p>
        </p:txBody>
      </p:sp>
      <p:sp>
        <p:nvSpPr>
          <p:cNvPr id="17" name="Text 14"/>
          <p:cNvSpPr/>
          <p:nvPr/>
        </p:nvSpPr>
        <p:spPr>
          <a:xfrm>
            <a:off x="4786313" y="1727699"/>
            <a:ext cx="3357563" cy="314325"/>
          </a:xfrm>
          <a:prstGeom prst="rect">
            <a:avLst/>
          </a:prstGeom>
          <a:noFill/>
          <a:ln/>
        </p:spPr>
        <p:txBody>
          <a:bodyPr wrap="square" lIns="0" tIns="0" rIns="0" bIns="102108" rtlCol="0" anchor="t">
            <a:spAutoFit/>
          </a:bodyPr>
          <a:lstStyle/>
          <a:p>
            <a:pPr algn="l" indent="0" marL="0">
              <a:lnSpc>
                <a:spcPts val="1500"/>
              </a:lnSpc>
              <a:buNone/>
            </a:pPr>
            <a:r>
              <a:rPr lang="en-US" sz="1090" b="1" dirty="0">
                <a:solidFill>
                  <a:srgbClr val="1A1A1A"/>
                </a:solidFill>
              </a:rPr>
              <a:t>Future Enhancements</a:t>
            </a:r>
            <a:endParaRPr lang="en-US" sz="1090" dirty="0"/>
          </a:p>
        </p:txBody>
      </p:sp>
      <p:sp>
        <p:nvSpPr>
          <p:cNvPr id="18" name="Text 15"/>
          <p:cNvSpPr/>
          <p:nvPr/>
        </p:nvSpPr>
        <p:spPr>
          <a:xfrm>
            <a:off x="4786313" y="2184899"/>
            <a:ext cx="114300" cy="194277"/>
          </a:xfrm>
          <a:prstGeom prst="rect">
            <a:avLst/>
          </a:prstGeom>
          <a:noFill/>
          <a:ln/>
        </p:spPr>
        <p:txBody>
          <a:bodyPr wrap="none" lIns="0" tIns="0" rIns="0" bIns="0" rtlCol="0" anchor="t">
            <a:spAutoFit/>
          </a:bodyPr>
          <a:lstStyle/>
          <a:p>
            <a:pPr algn="l" indent="0" marL="0">
              <a:lnSpc>
                <a:spcPts val="1500"/>
              </a:lnSpc>
              <a:buNone/>
            </a:pPr>
            <a:r>
              <a:rPr lang="en-US" sz="784" b="1" dirty="0">
                <a:solidFill>
                  <a:srgbClr val="0052CC"/>
                </a:solidFill>
              </a:rPr>
              <a:t>→</a:t>
            </a:r>
            <a:endParaRPr lang="en-US" sz="784" dirty="0"/>
          </a:p>
        </p:txBody>
      </p:sp>
      <p:sp>
        <p:nvSpPr>
          <p:cNvPr id="19" name="Text 16"/>
          <p:cNvSpPr/>
          <p:nvPr/>
        </p:nvSpPr>
        <p:spPr>
          <a:xfrm>
            <a:off x="4929188" y="2184899"/>
            <a:ext cx="3214688" cy="182166"/>
          </a:xfrm>
          <a:prstGeom prst="rect">
            <a:avLst/>
          </a:prstGeom>
          <a:noFill/>
          <a:ln/>
        </p:spPr>
        <p:txBody>
          <a:bodyPr wrap="none" lIns="0" tIns="0" rIns="0" bIns="0" rtlCol="0" anchor="t">
            <a:spAutoFit/>
          </a:bodyPr>
          <a:lstStyle/>
          <a:p>
            <a:pPr algn="l" indent="0" marL="0">
              <a:lnSpc>
                <a:spcPts val="1400"/>
              </a:lnSpc>
              <a:buNone/>
            </a:pPr>
            <a:r>
              <a:rPr lang="en-US" sz="734" b="1" dirty="0">
                <a:solidFill>
                  <a:srgbClr val="1A1A1A"/>
                </a:solidFill>
              </a:rPr>
              <a:t>Payment Gateway Integration</a:t>
            </a:r>
            <a:endParaRPr lang="en-US" sz="734" dirty="0"/>
          </a:p>
        </p:txBody>
      </p:sp>
      <p:sp>
        <p:nvSpPr>
          <p:cNvPr id="20" name="Text 17"/>
          <p:cNvSpPr/>
          <p:nvPr/>
        </p:nvSpPr>
        <p:spPr>
          <a:xfrm>
            <a:off x="4929188" y="2422429"/>
            <a:ext cx="3124191"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Adding support for online payment processing for paid events and</a:t>
            </a:r>
            <a:endParaRPr lang="en-US" sz="727" dirty="0"/>
          </a:p>
        </p:txBody>
      </p:sp>
      <p:sp>
        <p:nvSpPr>
          <p:cNvPr id="21" name="Text 18"/>
          <p:cNvSpPr/>
          <p:nvPr/>
        </p:nvSpPr>
        <p:spPr>
          <a:xfrm>
            <a:off x="4929188" y="2604595"/>
            <a:ext cx="838526"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ticketing systems.</a:t>
            </a:r>
            <a:endParaRPr lang="en-US" sz="727" dirty="0"/>
          </a:p>
        </p:txBody>
      </p:sp>
      <p:sp>
        <p:nvSpPr>
          <p:cNvPr id="22" name="Text 19"/>
          <p:cNvSpPr/>
          <p:nvPr/>
        </p:nvSpPr>
        <p:spPr>
          <a:xfrm>
            <a:off x="4786313" y="2874271"/>
            <a:ext cx="114300" cy="194277"/>
          </a:xfrm>
          <a:prstGeom prst="rect">
            <a:avLst/>
          </a:prstGeom>
          <a:noFill/>
          <a:ln/>
        </p:spPr>
        <p:txBody>
          <a:bodyPr wrap="none" lIns="0" tIns="0" rIns="0" bIns="0" rtlCol="0" anchor="t">
            <a:spAutoFit/>
          </a:bodyPr>
          <a:lstStyle/>
          <a:p>
            <a:pPr algn="l" indent="0" marL="0">
              <a:lnSpc>
                <a:spcPts val="1500"/>
              </a:lnSpc>
              <a:buNone/>
            </a:pPr>
            <a:r>
              <a:rPr lang="en-US" sz="784" b="1" dirty="0">
                <a:solidFill>
                  <a:srgbClr val="0052CC"/>
                </a:solidFill>
              </a:rPr>
              <a:t>→</a:t>
            </a:r>
            <a:endParaRPr lang="en-US" sz="784" dirty="0"/>
          </a:p>
        </p:txBody>
      </p:sp>
      <p:sp>
        <p:nvSpPr>
          <p:cNvPr id="23" name="Text 20"/>
          <p:cNvSpPr/>
          <p:nvPr/>
        </p:nvSpPr>
        <p:spPr>
          <a:xfrm>
            <a:off x="4929188" y="2874271"/>
            <a:ext cx="3214688" cy="182166"/>
          </a:xfrm>
          <a:prstGeom prst="rect">
            <a:avLst/>
          </a:prstGeom>
          <a:noFill/>
          <a:ln/>
        </p:spPr>
        <p:txBody>
          <a:bodyPr wrap="none" lIns="0" tIns="0" rIns="0" bIns="0" rtlCol="0" anchor="t">
            <a:spAutoFit/>
          </a:bodyPr>
          <a:lstStyle/>
          <a:p>
            <a:pPr algn="l" indent="0" marL="0">
              <a:lnSpc>
                <a:spcPts val="1400"/>
              </a:lnSpc>
              <a:buNone/>
            </a:pPr>
            <a:r>
              <a:rPr lang="en-US" sz="734" b="1" dirty="0">
                <a:solidFill>
                  <a:srgbClr val="1A1A1A"/>
                </a:solidFill>
              </a:rPr>
              <a:t>Automated Email Notifications</a:t>
            </a:r>
            <a:endParaRPr lang="en-US" sz="734" dirty="0"/>
          </a:p>
        </p:txBody>
      </p:sp>
      <p:sp>
        <p:nvSpPr>
          <p:cNvPr id="24" name="Text 21"/>
          <p:cNvSpPr/>
          <p:nvPr/>
        </p:nvSpPr>
        <p:spPr>
          <a:xfrm>
            <a:off x="4929188" y="3111801"/>
            <a:ext cx="2565443"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Implementing system-triggered emails for registration</a:t>
            </a:r>
            <a:endParaRPr lang="en-US" sz="727" dirty="0"/>
          </a:p>
        </p:txBody>
      </p:sp>
      <p:sp>
        <p:nvSpPr>
          <p:cNvPr id="25" name="Text 22"/>
          <p:cNvSpPr/>
          <p:nvPr/>
        </p:nvSpPr>
        <p:spPr>
          <a:xfrm>
            <a:off x="4929188" y="3293966"/>
            <a:ext cx="1681321"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confirmations and event reminders.</a:t>
            </a:r>
            <a:endParaRPr lang="en-US" sz="727" dirty="0"/>
          </a:p>
        </p:txBody>
      </p:sp>
      <p:sp>
        <p:nvSpPr>
          <p:cNvPr id="26" name="Text 23"/>
          <p:cNvSpPr/>
          <p:nvPr/>
        </p:nvSpPr>
        <p:spPr>
          <a:xfrm>
            <a:off x="4786313" y="3563643"/>
            <a:ext cx="114300" cy="194277"/>
          </a:xfrm>
          <a:prstGeom prst="rect">
            <a:avLst/>
          </a:prstGeom>
          <a:noFill/>
          <a:ln/>
        </p:spPr>
        <p:txBody>
          <a:bodyPr wrap="none" lIns="0" tIns="0" rIns="0" bIns="0" rtlCol="0" anchor="t">
            <a:spAutoFit/>
          </a:bodyPr>
          <a:lstStyle/>
          <a:p>
            <a:pPr algn="l" indent="0" marL="0">
              <a:lnSpc>
                <a:spcPts val="1500"/>
              </a:lnSpc>
              <a:buNone/>
            </a:pPr>
            <a:r>
              <a:rPr lang="en-US" sz="784" b="1" dirty="0">
                <a:solidFill>
                  <a:srgbClr val="0052CC"/>
                </a:solidFill>
              </a:rPr>
              <a:t>→</a:t>
            </a:r>
            <a:endParaRPr lang="en-US" sz="784" dirty="0"/>
          </a:p>
        </p:txBody>
      </p:sp>
      <p:sp>
        <p:nvSpPr>
          <p:cNvPr id="27" name="Text 24"/>
          <p:cNvSpPr/>
          <p:nvPr/>
        </p:nvSpPr>
        <p:spPr>
          <a:xfrm>
            <a:off x="4929188" y="3563643"/>
            <a:ext cx="3214688" cy="182166"/>
          </a:xfrm>
          <a:prstGeom prst="rect">
            <a:avLst/>
          </a:prstGeom>
          <a:noFill/>
          <a:ln/>
        </p:spPr>
        <p:txBody>
          <a:bodyPr wrap="none" lIns="0" tIns="0" rIns="0" bIns="0" rtlCol="0" anchor="t">
            <a:spAutoFit/>
          </a:bodyPr>
          <a:lstStyle/>
          <a:p>
            <a:pPr algn="l" indent="0" marL="0">
              <a:lnSpc>
                <a:spcPts val="1400"/>
              </a:lnSpc>
              <a:buNone/>
            </a:pPr>
            <a:r>
              <a:rPr lang="en-US" sz="734" b="1" dirty="0">
                <a:solidFill>
                  <a:srgbClr val="1A1A1A"/>
                </a:solidFill>
              </a:rPr>
              <a:t>Advanced Reporting Module</a:t>
            </a:r>
            <a:endParaRPr lang="en-US" sz="734" dirty="0"/>
          </a:p>
        </p:txBody>
      </p:sp>
      <p:sp>
        <p:nvSpPr>
          <p:cNvPr id="28" name="Text 25"/>
          <p:cNvSpPr/>
          <p:nvPr/>
        </p:nvSpPr>
        <p:spPr>
          <a:xfrm>
            <a:off x="4929188" y="3801173"/>
            <a:ext cx="2985781"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Developing comprehensive reporting features for data analysis,</a:t>
            </a:r>
            <a:endParaRPr lang="en-US" sz="727" dirty="0"/>
          </a:p>
        </p:txBody>
      </p:sp>
      <p:sp>
        <p:nvSpPr>
          <p:cNvPr id="29" name="Text 26"/>
          <p:cNvSpPr/>
          <p:nvPr/>
        </p:nvSpPr>
        <p:spPr>
          <a:xfrm>
            <a:off x="4929188" y="3983338"/>
            <a:ext cx="1570509" cy="135731"/>
          </a:xfrm>
          <a:prstGeom prst="rect">
            <a:avLst/>
          </a:prstGeom>
          <a:noFill/>
          <a:ln/>
        </p:spPr>
        <p:txBody>
          <a:bodyPr wrap="none" lIns="0" tIns="0" rIns="0" bIns="0" rtlCol="0" anchor="t">
            <a:spAutoFit/>
          </a:bodyPr>
          <a:lstStyle/>
          <a:p>
            <a:pPr algn="l" indent="0" marL="0">
              <a:lnSpc>
                <a:spcPts val="1300"/>
              </a:lnSpc>
              <a:buNone/>
            </a:pPr>
            <a:r>
              <a:rPr lang="en-US" sz="727" dirty="0">
                <a:solidFill>
                  <a:srgbClr val="333333"/>
                </a:solidFill>
              </a:rPr>
              <a:t>export, and business intelligence.</a:t>
            </a:r>
            <a:endParaRPr lang="en-US" sz="72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2025-12-01T15:16:27Z</dcterms:created>
  <dcterms:modified xsi:type="dcterms:W3CDTF">2025-12-01T15:16:27Z</dcterms:modified>
</cp:coreProperties>
</file>